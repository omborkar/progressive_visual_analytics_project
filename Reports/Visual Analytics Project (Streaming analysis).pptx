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FCD50B-1BEF-4D82-A622-65FF2D59C01B}">
  <a:tblStyle styleId="{ECFCD50B-1BEF-4D82-A622-65FF2D59C01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cf4a3af57_3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cf4a3af57_3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ccf4a3af57_3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cf4a3af57_3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cf4a3af57_3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ccf4a3af57_3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cf4a3af57_3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ccf4a3af57_3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cf4a3af57_3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ccf4a3af57_3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cf4a3af57_3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ccf4a3af57_3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cf4a3af57_3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ccf4a3af57_3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cf4a3af57_3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ccf4a3af57_3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cf4a3af57_3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ccf4a3af57_3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cf4a3af57_3_12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ccf4a3af57_3_1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cf4a3af57_3_12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ccf4a3af57_3_1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ccf4a3af57_3_1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ccf4a3af57_3_12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ccf4a3af57_3_12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cf4a3af57_3_1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cf4a3af57_3_12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ccf4a3af57_3_12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500"/>
          </a:xfrm>
          <a:prstGeom prst="rect">
            <a:avLst/>
          </a:prstGeom>
          <a:noFill/>
          <a:ln>
            <a:noFill/>
          </a:ln>
        </p:spPr>
      </p:sp>
      <p:sp>
        <p:nvSpPr>
          <p:cNvPr id="68" name="Google Shape;68;p1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Beautify this slide" id="89" name="Google Shape;89;p13"/>
          <p:cNvPicPr preferRelativeResize="0"/>
          <p:nvPr/>
        </p:nvPicPr>
        <p:blipFill>
          <a:blip r:embed="rId3">
            <a:alphaModFix/>
          </a:blip>
          <a:stretch>
            <a:fillRect/>
          </a:stretch>
        </p:blipFill>
        <p:spPr>
          <a:xfrm>
            <a:off x="763750" y="193175"/>
            <a:ext cx="1228725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Objectives </a:t>
            </a:r>
            <a:r>
              <a:rPr lang="en-US"/>
              <a:t>Streaming Analysis</a:t>
            </a:r>
            <a:endParaRPr sz="2800"/>
          </a:p>
        </p:txBody>
      </p:sp>
      <p:sp>
        <p:nvSpPr>
          <p:cNvPr id="95" name="Google Shape;9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Visually understand whether most of the incidents meets SLA or breaches SLA</a:t>
            </a:r>
            <a:endParaRPr/>
          </a:p>
          <a:p>
            <a:pPr indent="-228600" lvl="0" marL="228600" rtl="0" algn="l">
              <a:lnSpc>
                <a:spcPct val="90000"/>
              </a:lnSpc>
              <a:spcBef>
                <a:spcPts val="1000"/>
              </a:spcBef>
              <a:spcAft>
                <a:spcPts val="0"/>
              </a:spcAft>
              <a:buClr>
                <a:schemeClr val="dk1"/>
              </a:buClr>
              <a:buSzPts val="2800"/>
              <a:buChar char="•"/>
            </a:pPr>
            <a:r>
              <a:rPr lang="en-US"/>
              <a:t>The reason for most of the breaches, and dependency on other columns</a:t>
            </a:r>
            <a:endParaRPr/>
          </a:p>
          <a:p>
            <a:pPr indent="-228600" lvl="0" marL="228600" rtl="0" algn="l">
              <a:lnSpc>
                <a:spcPct val="90000"/>
              </a:lnSpc>
              <a:spcBef>
                <a:spcPts val="1000"/>
              </a:spcBef>
              <a:spcAft>
                <a:spcPts val="0"/>
              </a:spcAft>
              <a:buClr>
                <a:schemeClr val="dk1"/>
              </a:buClr>
              <a:buSzPts val="2800"/>
              <a:buChar char="•"/>
            </a:pPr>
            <a:r>
              <a:rPr lang="en-US"/>
              <a:t>Incident Trend analysis </a:t>
            </a:r>
            <a:endParaRPr/>
          </a:p>
          <a:p>
            <a:pPr indent="-228600" lvl="0" marL="228600" rtl="0" algn="l">
              <a:lnSpc>
                <a:spcPct val="90000"/>
              </a:lnSpc>
              <a:spcBef>
                <a:spcPts val="1000"/>
              </a:spcBef>
              <a:spcAft>
                <a:spcPts val="0"/>
              </a:spcAft>
              <a:buClr>
                <a:schemeClr val="dk1"/>
              </a:buClr>
              <a:buSzPts val="2800"/>
              <a:buChar char="•"/>
            </a:pPr>
            <a:r>
              <a:rPr lang="en-US"/>
              <a:t>Focused around identifying peak hour of the day and peak day of the week.</a:t>
            </a:r>
            <a:endParaRPr/>
          </a:p>
          <a:p>
            <a:pPr indent="-228600" lvl="0" marL="228600" rtl="0" algn="l">
              <a:lnSpc>
                <a:spcPct val="90000"/>
              </a:lnSpc>
              <a:spcBef>
                <a:spcPts val="1000"/>
              </a:spcBef>
              <a:spcAft>
                <a:spcPts val="0"/>
              </a:spcAft>
              <a:buClr>
                <a:schemeClr val="dk1"/>
              </a:buClr>
              <a:buSzPts val="2800"/>
              <a:buChar char="•"/>
            </a:pPr>
            <a:r>
              <a:rPr lang="en-US"/>
              <a:t>Identify the relationship between SLA breach and incident volume.</a:t>
            </a:r>
            <a:endParaRPr/>
          </a:p>
          <a:p>
            <a:pPr indent="-228600" lvl="0" marL="228600" rtl="0" algn="l">
              <a:lnSpc>
                <a:spcPct val="90000"/>
              </a:lnSpc>
              <a:spcBef>
                <a:spcPts val="1000"/>
              </a:spcBef>
              <a:spcAft>
                <a:spcPts val="0"/>
              </a:spcAft>
              <a:buClr>
                <a:schemeClr val="dk1"/>
              </a:buClr>
              <a:buSzPts val="2800"/>
              <a:buChar char="•"/>
            </a:pPr>
            <a:r>
              <a:rPr lang="en-US"/>
              <a:t>Suggest countermeasures, and derive insights from the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SLA compliance Analysis</a:t>
            </a:r>
            <a:endParaRPr/>
          </a:p>
        </p:txBody>
      </p:sp>
      <p:pic>
        <p:nvPicPr>
          <p:cNvPr id="101" name="Google Shape;101;p15"/>
          <p:cNvPicPr preferRelativeResize="0"/>
          <p:nvPr/>
        </p:nvPicPr>
        <p:blipFill rotWithShape="1">
          <a:blip r:embed="rId3">
            <a:alphaModFix/>
          </a:blip>
          <a:srcRect b="0" l="0" r="0" t="0"/>
          <a:stretch/>
        </p:blipFill>
        <p:spPr>
          <a:xfrm>
            <a:off x="933873" y="1825625"/>
            <a:ext cx="4991797" cy="3886742"/>
          </a:xfrm>
          <a:prstGeom prst="rect">
            <a:avLst/>
          </a:prstGeom>
          <a:noFill/>
          <a:ln>
            <a:noFill/>
          </a:ln>
        </p:spPr>
      </p:pic>
      <p:sp>
        <p:nvSpPr>
          <p:cNvPr id="102" name="Google Shape;102;p15"/>
          <p:cNvSpPr txBox="1"/>
          <p:nvPr/>
        </p:nvSpPr>
        <p:spPr>
          <a:xfrm>
            <a:off x="5602941" y="1825626"/>
            <a:ext cx="5959986"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More incidents breached SLA target</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Around SLA UNMET = 1.7xSLA met</a:t>
            </a:r>
            <a:endParaRPr/>
          </a:p>
          <a:p>
            <a:pPr indent="-171450" lvl="0" marL="2857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Uncertainity_met = |C_current,met – C_previous,met|</a:t>
            </a:r>
            <a:endParaRPr/>
          </a:p>
          <a:p>
            <a:pPr indent="-171450" lvl="0" marL="2857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Defines uncertainity over a period of longer time,</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Arises from the fact that the reason for breach is possibly improper assignment, high overload.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Effect of Priority on SLA Compliance:</a:t>
            </a:r>
            <a:endParaRPr/>
          </a:p>
        </p:txBody>
      </p:sp>
      <p:pic>
        <p:nvPicPr>
          <p:cNvPr id="108" name="Google Shape;108;p16"/>
          <p:cNvPicPr preferRelativeResize="0"/>
          <p:nvPr/>
        </p:nvPicPr>
        <p:blipFill rotWithShape="1">
          <a:blip r:embed="rId3">
            <a:alphaModFix/>
          </a:blip>
          <a:srcRect b="0" l="0" r="0" t="0"/>
          <a:stretch/>
        </p:blipFill>
        <p:spPr>
          <a:xfrm>
            <a:off x="1030940" y="1690688"/>
            <a:ext cx="4643041" cy="4371965"/>
          </a:xfrm>
          <a:prstGeom prst="rect">
            <a:avLst/>
          </a:prstGeom>
          <a:noFill/>
          <a:ln>
            <a:noFill/>
          </a:ln>
        </p:spPr>
      </p:pic>
      <p:sp>
        <p:nvSpPr>
          <p:cNvPr id="109" name="Google Shape;109;p16"/>
          <p:cNvSpPr txBox="1"/>
          <p:nvPr/>
        </p:nvSpPr>
        <p:spPr>
          <a:xfrm>
            <a:off x="5673981" y="2250141"/>
            <a:ext cx="5679819" cy="313932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Higher the priority (Lower integer) more SLA targets are met.</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Lower the priority (Higher integer) more SLA breaches happens.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Uncertainty(p,sl a) = |count(current) −count(previous)|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0, 1, 2 lower uncertainity suggests incidents resolved immediately. </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Color is determined by fraction </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Fraction(met) = N(met,p) / N(p)</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Fraction(unmet) = N(unmet,p) / N(p)</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Fraction(met,p) + Fraction(unmet,p) = 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Effect of Impact on SLA Compliance:</a:t>
            </a:r>
            <a:endParaRPr/>
          </a:p>
        </p:txBody>
      </p:sp>
      <p:pic>
        <p:nvPicPr>
          <p:cNvPr id="115" name="Google Shape;115;p17"/>
          <p:cNvPicPr preferRelativeResize="0"/>
          <p:nvPr/>
        </p:nvPicPr>
        <p:blipFill rotWithShape="1">
          <a:blip r:embed="rId3">
            <a:alphaModFix/>
          </a:blip>
          <a:srcRect b="0" l="0" r="0" t="0"/>
          <a:stretch/>
        </p:blipFill>
        <p:spPr>
          <a:xfrm>
            <a:off x="1066800" y="1690688"/>
            <a:ext cx="4875540" cy="4598695"/>
          </a:xfrm>
          <a:prstGeom prst="rect">
            <a:avLst/>
          </a:prstGeom>
          <a:noFill/>
          <a:ln>
            <a:noFill/>
          </a:ln>
        </p:spPr>
      </p:pic>
      <p:sp>
        <p:nvSpPr>
          <p:cNvPr id="116" name="Google Shape;116;p17"/>
          <p:cNvSpPr txBox="1"/>
          <p:nvPr/>
        </p:nvSpPr>
        <p:spPr>
          <a:xfrm>
            <a:off x="6170940" y="2250141"/>
            <a:ext cx="5599719" cy="34163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Higher the impact (Lower integer) more SLA targets are met.</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Lower the impact (Higher integer) more SLA breaches happens.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Uncertainty(i,sl a) = |count(current) −count(previous)|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0, 1, 2 lower uncertainity suggests incidents resolved immediately. </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Color is determined by fraction </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Fraction(met) = N(met,p) / N(p)</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Fraction(unmet) = N(unmet,p) / N(p)</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Fraction(met,p) + Fraction(unmet,p) = 1</a:t>
            </a:r>
            <a:endParaRPr/>
          </a:p>
          <a:p>
            <a:pPr indent="-171450" lvl="0" marL="2857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Effect of Urgency on SLA Compliance:</a:t>
            </a:r>
            <a:endParaRPr/>
          </a:p>
        </p:txBody>
      </p:sp>
      <p:pic>
        <p:nvPicPr>
          <p:cNvPr id="122" name="Google Shape;122;p18"/>
          <p:cNvPicPr preferRelativeResize="0"/>
          <p:nvPr/>
        </p:nvPicPr>
        <p:blipFill rotWithShape="1">
          <a:blip r:embed="rId3">
            <a:alphaModFix/>
          </a:blip>
          <a:srcRect b="0" l="0" r="0" t="0"/>
          <a:stretch/>
        </p:blipFill>
        <p:spPr>
          <a:xfrm>
            <a:off x="838200" y="1690688"/>
            <a:ext cx="4900188" cy="4602733"/>
          </a:xfrm>
          <a:prstGeom prst="rect">
            <a:avLst/>
          </a:prstGeom>
          <a:noFill/>
          <a:ln>
            <a:noFill/>
          </a:ln>
        </p:spPr>
      </p:pic>
      <p:sp>
        <p:nvSpPr>
          <p:cNvPr id="123" name="Google Shape;123;p18"/>
          <p:cNvSpPr txBox="1"/>
          <p:nvPr/>
        </p:nvSpPr>
        <p:spPr>
          <a:xfrm>
            <a:off x="6194612" y="2250141"/>
            <a:ext cx="5549153" cy="4247317"/>
          </a:xfrm>
          <a:prstGeom prst="rect">
            <a:avLst/>
          </a:prstGeom>
          <a:blipFill rotWithShape="1">
            <a:blip r:embed="rId4">
              <a:alphaModFix/>
            </a:blip>
            <a:stretch>
              <a:fillRect b="0" l="-659" r="-1759" t="-71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Insights from Heatmap</a:t>
            </a:r>
            <a:endParaRPr/>
          </a:p>
        </p:txBody>
      </p:sp>
      <p:sp>
        <p:nvSpPr>
          <p:cNvPr id="129" name="Google Shape;12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Higher severity(priority, impact,urgency) less SLA breaches</a:t>
            </a:r>
            <a:endParaRPr/>
          </a:p>
          <a:p>
            <a:pPr indent="-228600" lvl="0" marL="228600" rtl="0" algn="l">
              <a:lnSpc>
                <a:spcPct val="90000"/>
              </a:lnSpc>
              <a:spcBef>
                <a:spcPts val="1000"/>
              </a:spcBef>
              <a:spcAft>
                <a:spcPts val="0"/>
              </a:spcAft>
              <a:buClr>
                <a:schemeClr val="dk1"/>
              </a:buClr>
              <a:buSzPts val="2800"/>
              <a:buChar char="•"/>
            </a:pPr>
            <a:r>
              <a:rPr lang="en-US"/>
              <a:t>Lower severity, higher SLA breaches.</a:t>
            </a:r>
            <a:endParaRPr/>
          </a:p>
          <a:p>
            <a:pPr indent="-228600" lvl="0" marL="228600" rtl="0" algn="l">
              <a:lnSpc>
                <a:spcPct val="90000"/>
              </a:lnSpc>
              <a:spcBef>
                <a:spcPts val="1000"/>
              </a:spcBef>
              <a:spcAft>
                <a:spcPts val="0"/>
              </a:spcAft>
              <a:buClr>
                <a:schemeClr val="dk1"/>
              </a:buClr>
              <a:buSzPts val="2800"/>
              <a:buChar char="•"/>
            </a:pPr>
            <a:r>
              <a:rPr lang="en-US"/>
              <a:t>High severity incidents are lower in number</a:t>
            </a:r>
            <a:endParaRPr/>
          </a:p>
          <a:p>
            <a:pPr indent="-228600" lvl="0" marL="228600" rtl="0" algn="l">
              <a:lnSpc>
                <a:spcPct val="90000"/>
              </a:lnSpc>
              <a:spcBef>
                <a:spcPts val="1000"/>
              </a:spcBef>
              <a:spcAft>
                <a:spcPts val="0"/>
              </a:spcAft>
              <a:buClr>
                <a:schemeClr val="dk1"/>
              </a:buClr>
              <a:buSzPts val="2800"/>
              <a:buChar char="•"/>
            </a:pPr>
            <a:r>
              <a:rPr lang="en-US"/>
              <a:t>Low,and medium severity incidents are higher in number.</a:t>
            </a:r>
            <a:endParaRPr/>
          </a:p>
          <a:p>
            <a:pPr indent="-228600" lvl="0" marL="228600" rtl="0" algn="l">
              <a:lnSpc>
                <a:spcPct val="90000"/>
              </a:lnSpc>
              <a:spcBef>
                <a:spcPts val="1000"/>
              </a:spcBef>
              <a:spcAft>
                <a:spcPts val="0"/>
              </a:spcAft>
              <a:buClr>
                <a:schemeClr val="dk1"/>
              </a:buClr>
              <a:buSzPts val="2800"/>
              <a:buChar char="•"/>
            </a:pPr>
            <a:r>
              <a:rPr lang="en-US"/>
              <a:t>What is causing the SLA breach?</a:t>
            </a:r>
            <a:endParaRPr/>
          </a:p>
          <a:p>
            <a:pPr indent="-228600" lvl="0" marL="228600" rtl="0" algn="l">
              <a:lnSpc>
                <a:spcPct val="90000"/>
              </a:lnSpc>
              <a:spcBef>
                <a:spcPts val="1000"/>
              </a:spcBef>
              <a:spcAft>
                <a:spcPts val="0"/>
              </a:spcAft>
              <a:buClr>
                <a:schemeClr val="dk1"/>
              </a:buClr>
              <a:buSzPts val="2800"/>
              <a:buChar char="•"/>
            </a:pPr>
            <a:r>
              <a:rPr lang="en-US"/>
              <a:t>Is it performance limitation of assigned group or workload distribution, or both?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Group capability score</a:t>
            </a:r>
            <a:endParaRPr/>
          </a:p>
        </p:txBody>
      </p:sp>
      <p:sp>
        <p:nvSpPr>
          <p:cNvPr id="135" name="Google Shape;135;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Score_of_1_incident = 10/log(priority + impact + urgency) </a:t>
            </a:r>
            <a:endParaRPr/>
          </a:p>
          <a:p>
            <a:pPr indent="-228600" lvl="0" marL="228600" rtl="0" algn="l">
              <a:lnSpc>
                <a:spcPct val="90000"/>
              </a:lnSpc>
              <a:spcBef>
                <a:spcPts val="1000"/>
              </a:spcBef>
              <a:spcAft>
                <a:spcPts val="0"/>
              </a:spcAft>
              <a:buClr>
                <a:schemeClr val="dk1"/>
              </a:buClr>
              <a:buSzPts val="2800"/>
              <a:buChar char="•"/>
            </a:pPr>
            <a:r>
              <a:rPr lang="en-US"/>
              <a:t>Total_score = sum of all sla_met – beta*sum_of_all_sla_unmet</a:t>
            </a:r>
            <a:endParaRPr/>
          </a:p>
          <a:p>
            <a:pPr indent="-228600" lvl="0" marL="228600" rtl="0" algn="l">
              <a:lnSpc>
                <a:spcPct val="90000"/>
              </a:lnSpc>
              <a:spcBef>
                <a:spcPts val="1000"/>
              </a:spcBef>
              <a:spcAft>
                <a:spcPts val="0"/>
              </a:spcAft>
              <a:buClr>
                <a:schemeClr val="dk1"/>
              </a:buClr>
              <a:buSzPts val="2800"/>
              <a:buChar char="•"/>
            </a:pPr>
            <a:r>
              <a:rPr lang="en-US"/>
              <a:t>We define beta empirically to smooth out graph visualization, we find 0.15 works well. </a:t>
            </a:r>
            <a:endParaRPr/>
          </a:p>
          <a:p>
            <a:pPr indent="-228600" lvl="0" marL="228600" rtl="0" algn="l">
              <a:lnSpc>
                <a:spcPct val="90000"/>
              </a:lnSpc>
              <a:spcBef>
                <a:spcPts val="1000"/>
              </a:spcBef>
              <a:spcAft>
                <a:spcPts val="0"/>
              </a:spcAft>
              <a:buClr>
                <a:schemeClr val="dk1"/>
              </a:buClr>
              <a:buSzPts val="2800"/>
              <a:buChar char="•"/>
            </a:pPr>
            <a:r>
              <a:rPr lang="en-US"/>
              <a:t>Uncertainity = |score(current) – score(previous)|</a:t>
            </a:r>
            <a:endParaRPr/>
          </a:p>
          <a:p>
            <a:pPr indent="-228600" lvl="0" marL="228600" rtl="0" algn="l">
              <a:lnSpc>
                <a:spcPct val="90000"/>
              </a:lnSpc>
              <a:spcBef>
                <a:spcPts val="1000"/>
              </a:spcBef>
              <a:spcAft>
                <a:spcPts val="0"/>
              </a:spcAft>
              <a:buClr>
                <a:schemeClr val="dk1"/>
              </a:buClr>
              <a:buSzPts val="2800"/>
              <a:buChar char="•"/>
            </a:pPr>
            <a:r>
              <a:rPr lang="en-US"/>
              <a:t>Unchanging or low score changes suggests stable group performance.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Group Capability Score</a:t>
            </a:r>
            <a:endParaRPr/>
          </a:p>
        </p:txBody>
      </p:sp>
      <p:pic>
        <p:nvPicPr>
          <p:cNvPr id="141" name="Google Shape;141;p21"/>
          <p:cNvPicPr preferRelativeResize="0"/>
          <p:nvPr/>
        </p:nvPicPr>
        <p:blipFill rotWithShape="1">
          <a:blip r:embed="rId3">
            <a:alphaModFix/>
          </a:blip>
          <a:srcRect b="0" l="0" r="0" t="0"/>
          <a:stretch/>
        </p:blipFill>
        <p:spPr>
          <a:xfrm>
            <a:off x="265036" y="1690688"/>
            <a:ext cx="11926964" cy="4658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Group capability score</a:t>
            </a:r>
            <a:endParaRPr/>
          </a:p>
        </p:txBody>
      </p:sp>
      <p:sp>
        <p:nvSpPr>
          <p:cNvPr id="147" name="Google Shape;14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Initially group 70, performed well, but with increasing workload (around 9500 incidents assigned to group 70), its performance significantly decreased.</a:t>
            </a:r>
            <a:endParaRPr/>
          </a:p>
          <a:p>
            <a:pPr indent="-228600" lvl="0" marL="228600" rtl="0" algn="l">
              <a:lnSpc>
                <a:spcPct val="90000"/>
              </a:lnSpc>
              <a:spcBef>
                <a:spcPts val="1000"/>
              </a:spcBef>
              <a:spcAft>
                <a:spcPts val="0"/>
              </a:spcAft>
              <a:buClr>
                <a:schemeClr val="dk1"/>
              </a:buClr>
              <a:buSzPts val="2800"/>
              <a:buChar char="•"/>
            </a:pPr>
            <a:r>
              <a:rPr lang="en-US"/>
              <a:t>Group 64 is underperforming, it needs to be re-evaluated and replaced.</a:t>
            </a:r>
            <a:endParaRPr/>
          </a:p>
          <a:p>
            <a:pPr indent="-228600" lvl="0" marL="228600" rtl="0" algn="l">
              <a:lnSpc>
                <a:spcPct val="90000"/>
              </a:lnSpc>
              <a:spcBef>
                <a:spcPts val="1000"/>
              </a:spcBef>
              <a:spcAft>
                <a:spcPts val="0"/>
              </a:spcAft>
              <a:buClr>
                <a:schemeClr val="dk1"/>
              </a:buClr>
              <a:buSzPts val="2800"/>
              <a:buChar char="•"/>
            </a:pPr>
            <a:r>
              <a:rPr lang="en-US"/>
              <a:t>New way of workload assignment, required like epsilon-greedy.</a:t>
            </a:r>
            <a:endParaRPr/>
          </a:p>
          <a:p>
            <a:pPr indent="-228600" lvl="0" marL="228600" rtl="0" algn="l">
              <a:lnSpc>
                <a:spcPct val="90000"/>
              </a:lnSpc>
              <a:spcBef>
                <a:spcPts val="1000"/>
              </a:spcBef>
              <a:spcAft>
                <a:spcPts val="0"/>
              </a:spcAft>
              <a:buClr>
                <a:schemeClr val="dk1"/>
              </a:buClr>
              <a:buSzPts val="2800"/>
              <a:buChar char="•"/>
            </a:pPr>
            <a:r>
              <a:rPr lang="en-US"/>
              <a:t>Most of the groups have around 50% of incidents meeting SLA.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Top 5 categories by SLA compliance</a:t>
            </a:r>
            <a:endParaRPr/>
          </a:p>
        </p:txBody>
      </p:sp>
      <p:pic>
        <p:nvPicPr>
          <p:cNvPr id="154" name="Google Shape;154;p23"/>
          <p:cNvPicPr preferRelativeResize="0"/>
          <p:nvPr/>
        </p:nvPicPr>
        <p:blipFill rotWithShape="1">
          <a:blip r:embed="rId3">
            <a:alphaModFix/>
          </a:blip>
          <a:srcRect b="0" l="0" r="0" t="0"/>
          <a:stretch/>
        </p:blipFill>
        <p:spPr>
          <a:xfrm>
            <a:off x="462740" y="2976282"/>
            <a:ext cx="5739252" cy="2402542"/>
          </a:xfrm>
          <a:prstGeom prst="rect">
            <a:avLst/>
          </a:prstGeom>
          <a:noFill/>
          <a:ln>
            <a:noFill/>
          </a:ln>
        </p:spPr>
      </p:pic>
      <p:sp>
        <p:nvSpPr>
          <p:cNvPr id="155" name="Google Shape;155;p23"/>
          <p:cNvSpPr txBox="1"/>
          <p:nvPr/>
        </p:nvSpPr>
        <p:spPr>
          <a:xfrm>
            <a:off x="7395882" y="2097740"/>
            <a:ext cx="4114800"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Category 42,53,26,and 46 contributes majorly to breaching SLA compliance and meeting SLA compliance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can train dedicated groups on these categories to increase SLA compliance.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To convey uncertainty we use bernouli trial’s standard error</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Priority Distribution Among Major Categories</a:t>
            </a:r>
            <a:endParaRPr/>
          </a:p>
        </p:txBody>
      </p:sp>
      <p:pic>
        <p:nvPicPr>
          <p:cNvPr id="161" name="Google Shape;161;p24"/>
          <p:cNvPicPr preferRelativeResize="0"/>
          <p:nvPr/>
        </p:nvPicPr>
        <p:blipFill rotWithShape="1">
          <a:blip r:embed="rId3">
            <a:alphaModFix/>
          </a:blip>
          <a:srcRect b="0" l="0" r="0" t="0"/>
          <a:stretch/>
        </p:blipFill>
        <p:spPr>
          <a:xfrm>
            <a:off x="321609" y="2106704"/>
            <a:ext cx="6468205" cy="3593447"/>
          </a:xfrm>
          <a:prstGeom prst="rect">
            <a:avLst/>
          </a:prstGeom>
          <a:noFill/>
          <a:ln>
            <a:noFill/>
          </a:ln>
        </p:spPr>
      </p:pic>
      <p:sp>
        <p:nvSpPr>
          <p:cNvPr id="162" name="Google Shape;162;p24"/>
          <p:cNvSpPr txBox="1"/>
          <p:nvPr/>
        </p:nvSpPr>
        <p:spPr>
          <a:xfrm>
            <a:off x="7628965" y="2205318"/>
            <a:ext cx="3724835"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Priority 3 incidents are the highest in number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Train dedicated groups for priority 3 incidents.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Uncertainty is conveyed through 95% confidence interval.</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Knowledge base usage across major categories.</a:t>
            </a:r>
            <a:endParaRPr/>
          </a:p>
        </p:txBody>
      </p:sp>
      <p:pic>
        <p:nvPicPr>
          <p:cNvPr id="168" name="Google Shape;168;p25"/>
          <p:cNvPicPr preferRelativeResize="0"/>
          <p:nvPr/>
        </p:nvPicPr>
        <p:blipFill rotWithShape="1">
          <a:blip r:embed="rId3">
            <a:alphaModFix/>
          </a:blip>
          <a:srcRect b="0" l="0" r="0" t="0"/>
          <a:stretch/>
        </p:blipFill>
        <p:spPr>
          <a:xfrm>
            <a:off x="497541" y="2058755"/>
            <a:ext cx="6235567" cy="3464204"/>
          </a:xfrm>
          <a:prstGeom prst="rect">
            <a:avLst/>
          </a:prstGeom>
          <a:noFill/>
          <a:ln>
            <a:noFill/>
          </a:ln>
        </p:spPr>
      </p:pic>
      <p:sp>
        <p:nvSpPr>
          <p:cNvPr id="169" name="Google Shape;169;p25"/>
          <p:cNvSpPr txBox="1"/>
          <p:nvPr/>
        </p:nvSpPr>
        <p:spPr>
          <a:xfrm>
            <a:off x="7942729" y="1945340"/>
            <a:ext cx="334383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For all the major categories, for most of the incidents knowledge base was not used, either because it was non-existing or difficulty in locating it.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But does knowledge base impacts SLA breaches ? Intuitively yes, but we need to verify this from data.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Impact of Knowledge usage on SLA compliance</a:t>
            </a:r>
            <a:endParaRPr/>
          </a:p>
        </p:txBody>
      </p:sp>
      <p:sp>
        <p:nvSpPr>
          <p:cNvPr id="175" name="Google Shape;175;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Contingency matrix</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Odds ratio = (a/b) / (c/d) = a.d/b.c</a:t>
            </a:r>
            <a:endParaRPr/>
          </a:p>
          <a:p>
            <a:pPr indent="-228600" lvl="0" marL="228600" rtl="0" algn="l">
              <a:lnSpc>
                <a:spcPct val="90000"/>
              </a:lnSpc>
              <a:spcBef>
                <a:spcPts val="1000"/>
              </a:spcBef>
              <a:spcAft>
                <a:spcPts val="0"/>
              </a:spcAft>
              <a:buClr>
                <a:schemeClr val="dk1"/>
              </a:buClr>
              <a:buSzPts val="2800"/>
              <a:buChar char="•"/>
            </a:pPr>
            <a:r>
              <a:rPr lang="en-US"/>
              <a:t>Relative probability = (a/(a+b)) / (c/(c+d))</a:t>
            </a:r>
            <a:endParaRPr/>
          </a:p>
          <a:p>
            <a:pPr indent="-228600" lvl="0" marL="228600" rtl="0" algn="l">
              <a:lnSpc>
                <a:spcPct val="90000"/>
              </a:lnSpc>
              <a:spcBef>
                <a:spcPts val="1000"/>
              </a:spcBef>
              <a:spcAft>
                <a:spcPts val="0"/>
              </a:spcAft>
              <a:buClr>
                <a:schemeClr val="dk1"/>
              </a:buClr>
              <a:buSzPts val="2800"/>
              <a:buChar char="•"/>
            </a:pPr>
            <a:r>
              <a:rPr lang="en-US"/>
              <a:t>OR &gt; 1 suggests knowledge base usage increases the odds of meeting SLA.</a:t>
            </a:r>
            <a:endParaRPr/>
          </a:p>
          <a:p>
            <a:pPr indent="-228600" lvl="0" marL="228600" rtl="0" algn="l">
              <a:lnSpc>
                <a:spcPct val="90000"/>
              </a:lnSpc>
              <a:spcBef>
                <a:spcPts val="1000"/>
              </a:spcBef>
              <a:spcAft>
                <a:spcPts val="0"/>
              </a:spcAft>
              <a:buClr>
                <a:schemeClr val="dk1"/>
              </a:buClr>
              <a:buSzPts val="2800"/>
              <a:buChar char="•"/>
            </a:pPr>
            <a:r>
              <a:rPr lang="en-US"/>
              <a:t>RP &gt; 1 suggests knowledge base usage increases the probability of meeting SLA.</a:t>
            </a:r>
            <a:endParaRPr/>
          </a:p>
          <a:p>
            <a:pPr indent="-50800" lvl="0" marL="228600" rtl="0" algn="l">
              <a:lnSpc>
                <a:spcPct val="90000"/>
              </a:lnSpc>
              <a:spcBef>
                <a:spcPts val="1000"/>
              </a:spcBef>
              <a:spcAft>
                <a:spcPts val="0"/>
              </a:spcAft>
              <a:buClr>
                <a:schemeClr val="dk1"/>
              </a:buClr>
              <a:buSzPts val="2800"/>
              <a:buNone/>
            </a:pPr>
            <a:r>
              <a:t/>
            </a:r>
            <a:endParaRPr/>
          </a:p>
        </p:txBody>
      </p:sp>
      <p:graphicFrame>
        <p:nvGraphicFramePr>
          <p:cNvPr id="176" name="Google Shape;176;p26"/>
          <p:cNvGraphicFramePr/>
          <p:nvPr/>
        </p:nvGraphicFramePr>
        <p:xfrm>
          <a:off x="5127812" y="1825625"/>
          <a:ext cx="3000000" cy="3000000"/>
        </p:xfrm>
        <a:graphic>
          <a:graphicData uri="http://schemas.openxmlformats.org/drawingml/2006/table">
            <a:tbl>
              <a:tblPr bandRow="1" firstRow="1">
                <a:noFill/>
                <a:tableStyleId>{ECFCD50B-1BEF-4D82-A622-65FF2D59C01B}</a:tableStyleId>
              </a:tblPr>
              <a:tblGrid>
                <a:gridCol w="1281950"/>
                <a:gridCol w="573750"/>
                <a:gridCol w="872575"/>
              </a:tblGrid>
              <a:tr h="22860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SLA met</a:t>
                      </a:r>
                      <a:endParaRPr sz="1800"/>
                    </a:p>
                  </a:txBody>
                  <a:tcPr marT="45725" marB="45725" marR="91450" marL="91450"/>
                </a:tc>
                <a:tc>
                  <a:txBody>
                    <a:bodyPr/>
                    <a:lstStyle/>
                    <a:p>
                      <a:pPr indent="0" lvl="0" marL="0" marR="0" rtl="0" algn="l">
                        <a:spcBef>
                          <a:spcPts val="0"/>
                        </a:spcBef>
                        <a:spcAft>
                          <a:spcPts val="0"/>
                        </a:spcAft>
                        <a:buNone/>
                      </a:pPr>
                      <a:r>
                        <a:rPr lang="en-US" sz="1800"/>
                        <a:t>SLA unmet</a:t>
                      </a:r>
                      <a:endParaRPr sz="1800"/>
                    </a:p>
                  </a:txBody>
                  <a:tcPr marT="45725" marB="45725" marR="91450" marL="91450"/>
                </a:tc>
              </a:tr>
              <a:tr h="228600">
                <a:tc>
                  <a:txBody>
                    <a:bodyPr/>
                    <a:lstStyle/>
                    <a:p>
                      <a:pPr indent="0" lvl="0" marL="0" marR="0" rtl="0" algn="l">
                        <a:spcBef>
                          <a:spcPts val="0"/>
                        </a:spcBef>
                        <a:spcAft>
                          <a:spcPts val="0"/>
                        </a:spcAft>
                        <a:buNone/>
                      </a:pPr>
                      <a:r>
                        <a:rPr lang="en-US" sz="1800"/>
                        <a:t>KB Used</a:t>
                      </a:r>
                      <a:endParaRPr sz="1800"/>
                    </a:p>
                  </a:txBody>
                  <a:tcPr marT="45725" marB="45725" marR="91450" marL="91450"/>
                </a:tc>
                <a:tc>
                  <a:txBody>
                    <a:bodyPr/>
                    <a:lstStyle/>
                    <a:p>
                      <a:pPr indent="0" lvl="0" marL="0" marR="0" rtl="0" algn="l">
                        <a:spcBef>
                          <a:spcPts val="0"/>
                        </a:spcBef>
                        <a:spcAft>
                          <a:spcPts val="0"/>
                        </a:spcAft>
                        <a:buNone/>
                      </a:pPr>
                      <a:r>
                        <a:rPr lang="en-US" sz="1800"/>
                        <a:t>a</a:t>
                      </a:r>
                      <a:endParaRPr sz="1800"/>
                    </a:p>
                  </a:txBody>
                  <a:tcPr marT="45725" marB="45725" marR="91450" marL="91450"/>
                </a:tc>
                <a:tc>
                  <a:txBody>
                    <a:bodyPr/>
                    <a:lstStyle/>
                    <a:p>
                      <a:pPr indent="0" lvl="0" marL="0" marR="0" rtl="0" algn="l">
                        <a:spcBef>
                          <a:spcPts val="0"/>
                        </a:spcBef>
                        <a:spcAft>
                          <a:spcPts val="0"/>
                        </a:spcAft>
                        <a:buNone/>
                      </a:pPr>
                      <a:r>
                        <a:rPr lang="en-US" sz="1800"/>
                        <a:t>b</a:t>
                      </a:r>
                      <a:endParaRPr sz="1800"/>
                    </a:p>
                  </a:txBody>
                  <a:tcPr marT="45725" marB="45725" marR="91450" marL="91450"/>
                </a:tc>
              </a:tr>
              <a:tr h="228600">
                <a:tc>
                  <a:txBody>
                    <a:bodyPr/>
                    <a:lstStyle/>
                    <a:p>
                      <a:pPr indent="0" lvl="0" marL="0" marR="0" rtl="0" algn="l">
                        <a:spcBef>
                          <a:spcPts val="0"/>
                        </a:spcBef>
                        <a:spcAft>
                          <a:spcPts val="0"/>
                        </a:spcAft>
                        <a:buNone/>
                      </a:pPr>
                      <a:r>
                        <a:rPr lang="en-US" sz="1800"/>
                        <a:t>KB unused</a:t>
                      </a:r>
                      <a:endParaRPr sz="1800"/>
                    </a:p>
                  </a:txBody>
                  <a:tcPr marT="45725" marB="45725" marR="91450" marL="91450"/>
                </a:tc>
                <a:tc>
                  <a:txBody>
                    <a:bodyPr/>
                    <a:lstStyle/>
                    <a:p>
                      <a:pPr indent="0" lvl="0" marL="0" marR="0" rtl="0" algn="l">
                        <a:spcBef>
                          <a:spcPts val="0"/>
                        </a:spcBef>
                        <a:spcAft>
                          <a:spcPts val="0"/>
                        </a:spcAft>
                        <a:buNone/>
                      </a:pPr>
                      <a:r>
                        <a:rPr lang="en-US" sz="1800"/>
                        <a:t>c</a:t>
                      </a:r>
                      <a:endParaRPr sz="1800"/>
                    </a:p>
                  </a:txBody>
                  <a:tcPr marT="45725" marB="45725" marR="91450" marL="91450"/>
                </a:tc>
                <a:tc>
                  <a:txBody>
                    <a:bodyPr/>
                    <a:lstStyle/>
                    <a:p>
                      <a:pPr indent="0" lvl="0" marL="0" marR="0" rtl="0" algn="l">
                        <a:spcBef>
                          <a:spcPts val="0"/>
                        </a:spcBef>
                        <a:spcAft>
                          <a:spcPts val="0"/>
                        </a:spcAft>
                        <a:buNone/>
                      </a:pPr>
                      <a:r>
                        <a:rPr lang="en-US" sz="1800"/>
                        <a:t>d</a:t>
                      </a:r>
                      <a:endParaRPr sz="1800"/>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Impact of knowledge usage on SLA compliance</a:t>
            </a:r>
            <a:endParaRPr/>
          </a:p>
        </p:txBody>
      </p:sp>
      <p:pic>
        <p:nvPicPr>
          <p:cNvPr id="182" name="Google Shape;182;p27"/>
          <p:cNvPicPr preferRelativeResize="0"/>
          <p:nvPr/>
        </p:nvPicPr>
        <p:blipFill rotWithShape="1">
          <a:blip r:embed="rId3">
            <a:alphaModFix/>
          </a:blip>
          <a:srcRect b="0" l="0" r="0" t="0"/>
          <a:stretch/>
        </p:blipFill>
        <p:spPr>
          <a:xfrm>
            <a:off x="923437" y="1792941"/>
            <a:ext cx="5008948" cy="3507628"/>
          </a:xfrm>
          <a:prstGeom prst="rect">
            <a:avLst/>
          </a:prstGeom>
          <a:noFill/>
          <a:ln>
            <a:noFill/>
          </a:ln>
        </p:spPr>
      </p:pic>
      <p:sp>
        <p:nvSpPr>
          <p:cNvPr id="183" name="Google Shape;183;p27"/>
          <p:cNvSpPr txBox="1"/>
          <p:nvPr/>
        </p:nvSpPr>
        <p:spPr>
          <a:xfrm>
            <a:off x="6893859" y="1981200"/>
            <a:ext cx="4459941"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Usage of knowledge base increases the odds of SLA compliance by 6 times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knowledge base is used for the incident it is 2X more likely to meet target SLA.</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Thus training a dedicated group and instructing them to make RCA on incidents will make more incidents meet target SLA.</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Trend Analysis</a:t>
            </a:r>
            <a:endParaRPr/>
          </a:p>
        </p:txBody>
      </p:sp>
      <p:sp>
        <p:nvSpPr>
          <p:cNvPr id="189" name="Google Shape;18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aim to identify specific day in week, or hour in a day where incident volume peaks</a:t>
            </a:r>
            <a:endParaRPr/>
          </a:p>
          <a:p>
            <a:pPr indent="-228600" lvl="0" marL="228600" rtl="0" algn="l">
              <a:lnSpc>
                <a:spcPct val="90000"/>
              </a:lnSpc>
              <a:spcBef>
                <a:spcPts val="1000"/>
              </a:spcBef>
              <a:spcAft>
                <a:spcPts val="0"/>
              </a:spcAft>
              <a:buClr>
                <a:schemeClr val="dk1"/>
              </a:buClr>
              <a:buSzPts val="2800"/>
              <a:buChar char="•"/>
            </a:pPr>
            <a:r>
              <a:rPr lang="en-US"/>
              <a:t>This will help us identify the reason for incidents, and help us with resource allocation strategy.</a:t>
            </a:r>
            <a:endParaRPr/>
          </a:p>
          <a:p>
            <a:pPr indent="-228600" lvl="0" marL="228600" rtl="0" algn="l">
              <a:lnSpc>
                <a:spcPct val="90000"/>
              </a:lnSpc>
              <a:spcBef>
                <a:spcPts val="1000"/>
              </a:spcBef>
              <a:spcAft>
                <a:spcPts val="0"/>
              </a:spcAft>
              <a:buClr>
                <a:schemeClr val="dk1"/>
              </a:buClr>
              <a:buSzPts val="2800"/>
              <a:buChar char="•"/>
            </a:pPr>
            <a:r>
              <a:rPr lang="en-US"/>
              <a:t>We first start by a box plot where we will find out the day where incident volume peaks.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Incident distribution by day of week</a:t>
            </a:r>
            <a:endParaRPr/>
          </a:p>
        </p:txBody>
      </p:sp>
      <p:pic>
        <p:nvPicPr>
          <p:cNvPr id="195" name="Google Shape;195;p29"/>
          <p:cNvPicPr preferRelativeResize="0"/>
          <p:nvPr/>
        </p:nvPicPr>
        <p:blipFill rotWithShape="1">
          <a:blip r:embed="rId3">
            <a:alphaModFix/>
          </a:blip>
          <a:srcRect b="0" l="0" r="0" t="0"/>
          <a:stretch/>
        </p:blipFill>
        <p:spPr>
          <a:xfrm>
            <a:off x="707091" y="2241176"/>
            <a:ext cx="5569099" cy="3093944"/>
          </a:xfrm>
          <a:prstGeom prst="rect">
            <a:avLst/>
          </a:prstGeom>
          <a:noFill/>
          <a:ln>
            <a:noFill/>
          </a:ln>
        </p:spPr>
      </p:pic>
      <p:sp>
        <p:nvSpPr>
          <p:cNvPr id="196" name="Google Shape;196;p29"/>
          <p:cNvSpPr txBox="1"/>
          <p:nvPr/>
        </p:nvSpPr>
        <p:spPr>
          <a:xfrm>
            <a:off x="6822139" y="1690688"/>
            <a:ext cx="5199531" cy="369331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Monday has the highest number of median incidents.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Tuesday and Wednesday has almost similar volume of incidents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Followed by Thursday and Friday.</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Weekends has minimum number of incident volumes.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Possible explaination : Operational activity peaks during start of the week, and as system stabilizes over the week incident volume decreases. Weekends are holidays so there is reduced business operations, most of the incidents are due to internal changes by teams</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average of incident distribution by hour of day</a:t>
            </a:r>
            <a:endParaRPr/>
          </a:p>
        </p:txBody>
      </p:sp>
      <p:pic>
        <p:nvPicPr>
          <p:cNvPr id="202" name="Google Shape;202;p30"/>
          <p:cNvPicPr preferRelativeResize="0"/>
          <p:nvPr/>
        </p:nvPicPr>
        <p:blipFill rotWithShape="1">
          <a:blip r:embed="rId3">
            <a:alphaModFix/>
          </a:blip>
          <a:srcRect b="0" l="0" r="0" t="0"/>
          <a:stretch/>
        </p:blipFill>
        <p:spPr>
          <a:xfrm>
            <a:off x="949138" y="2483224"/>
            <a:ext cx="4988185" cy="2771214"/>
          </a:xfrm>
          <a:prstGeom prst="rect">
            <a:avLst/>
          </a:prstGeom>
          <a:noFill/>
          <a:ln>
            <a:noFill/>
          </a:ln>
        </p:spPr>
      </p:pic>
      <p:sp>
        <p:nvSpPr>
          <p:cNvPr id="203" name="Google Shape;203;p30"/>
          <p:cNvSpPr txBox="1"/>
          <p:nvPr/>
        </p:nvSpPr>
        <p:spPr>
          <a:xfrm>
            <a:off x="6096000" y="1690688"/>
            <a:ext cx="5373667" cy="313932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Incident volume peaks at 8.00-11.00 and 13.00-16.00</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Uncertainty is conveyed using 95% confidence Interval.</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Strategic allocation of more active resource during these hours in weekdays can help with more SLA adherence.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peak volume at working hours is an indication between operational activity and incident. Whereas reduced incident average between 11.00-13.00 suggests organizational breaks like lunch break.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Hourly Incident Distribution by Weekday</a:t>
            </a:r>
            <a:endParaRPr/>
          </a:p>
        </p:txBody>
      </p:sp>
      <p:pic>
        <p:nvPicPr>
          <p:cNvPr id="209" name="Google Shape;209;p31"/>
          <p:cNvPicPr preferRelativeResize="0"/>
          <p:nvPr/>
        </p:nvPicPr>
        <p:blipFill rotWithShape="1">
          <a:blip r:embed="rId3">
            <a:alphaModFix/>
          </a:blip>
          <a:srcRect b="0" l="0" r="0" t="0"/>
          <a:stretch/>
        </p:blipFill>
        <p:spPr>
          <a:xfrm>
            <a:off x="508746" y="1690688"/>
            <a:ext cx="5291419" cy="3683094"/>
          </a:xfrm>
          <a:prstGeom prst="rect">
            <a:avLst/>
          </a:prstGeom>
          <a:noFill/>
          <a:ln>
            <a:noFill/>
          </a:ln>
        </p:spPr>
      </p:pic>
      <p:sp>
        <p:nvSpPr>
          <p:cNvPr id="210" name="Google Shape;210;p31"/>
          <p:cNvSpPr txBox="1"/>
          <p:nvPr/>
        </p:nvSpPr>
        <p:spPr>
          <a:xfrm>
            <a:off x="6615952" y="1900518"/>
            <a:ext cx="5291419" cy="34163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verify the running average trend across all days of the week,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plot incident count for each hour for each day across all the weeks.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see that the trend line is similar only the amplitude decreases, adhering with our box plot.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Thus this confirms the pattern described using running average, and the relation of incident occurrence to operational activity, and our previous suggestion of having dedicated team to solve incident and deploying them at particular time of the day for more SLA compliance.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Category Distribution During Peak Incident Hours</a:t>
            </a:r>
            <a:endParaRPr/>
          </a:p>
        </p:txBody>
      </p:sp>
      <p:pic>
        <p:nvPicPr>
          <p:cNvPr id="216" name="Google Shape;216;p32"/>
          <p:cNvPicPr preferRelativeResize="0"/>
          <p:nvPr/>
        </p:nvPicPr>
        <p:blipFill rotWithShape="1">
          <a:blip r:embed="rId3">
            <a:alphaModFix/>
          </a:blip>
          <a:srcRect b="0" l="0" r="0" t="0"/>
          <a:stretch/>
        </p:blipFill>
        <p:spPr>
          <a:xfrm>
            <a:off x="381000" y="1047750"/>
            <a:ext cx="11430000" cy="4762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Category Distribution During Peak Incident Hours</a:t>
            </a:r>
            <a:endParaRPr/>
          </a:p>
        </p:txBody>
      </p:sp>
      <p:pic>
        <p:nvPicPr>
          <p:cNvPr id="222" name="Google Shape;222;p33"/>
          <p:cNvPicPr preferRelativeResize="0"/>
          <p:nvPr/>
        </p:nvPicPr>
        <p:blipFill rotWithShape="1">
          <a:blip r:embed="rId3">
            <a:alphaModFix/>
          </a:blip>
          <a:srcRect b="0" l="0" r="0" t="0"/>
          <a:stretch/>
        </p:blipFill>
        <p:spPr>
          <a:xfrm>
            <a:off x="381000" y="1047750"/>
            <a:ext cx="11430000" cy="4762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Category Distribution During Peak Incident Hours</a:t>
            </a:r>
            <a:endParaRPr/>
          </a:p>
        </p:txBody>
      </p:sp>
      <p:sp>
        <p:nvSpPr>
          <p:cNvPr id="228" name="Google Shape;228;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see that between 8.00-11.00 and 13.00-16.00, incident of category 42, 46, 53, and 26, occurs many times. </a:t>
            </a:r>
            <a:endParaRPr/>
          </a:p>
          <a:p>
            <a:pPr indent="-228600" lvl="0" marL="228600" rtl="0" algn="l">
              <a:lnSpc>
                <a:spcPct val="90000"/>
              </a:lnSpc>
              <a:spcBef>
                <a:spcPts val="1000"/>
              </a:spcBef>
              <a:spcAft>
                <a:spcPts val="0"/>
              </a:spcAft>
              <a:buClr>
                <a:schemeClr val="dk1"/>
              </a:buClr>
              <a:buSzPts val="2800"/>
              <a:buChar char="•"/>
            </a:pPr>
            <a:r>
              <a:rPr lang="en-US"/>
              <a:t>This supports our intuition from SLA compliance where we suggested to train dedicated group on category 42, 46, 53, and 26 and allocating them during peak hours will help more incidents meet sla target.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SLA Breaches by Time of Day</a:t>
            </a:r>
            <a:endParaRPr/>
          </a:p>
        </p:txBody>
      </p:sp>
      <p:pic>
        <p:nvPicPr>
          <p:cNvPr id="234" name="Google Shape;234;p35"/>
          <p:cNvPicPr preferRelativeResize="0"/>
          <p:nvPr/>
        </p:nvPicPr>
        <p:blipFill rotWithShape="1">
          <a:blip r:embed="rId3">
            <a:alphaModFix/>
          </a:blip>
          <a:srcRect b="0" l="0" r="0" t="0"/>
          <a:stretch/>
        </p:blipFill>
        <p:spPr>
          <a:xfrm>
            <a:off x="770965" y="1900518"/>
            <a:ext cx="5437990" cy="3398744"/>
          </a:xfrm>
          <a:prstGeom prst="rect">
            <a:avLst/>
          </a:prstGeom>
          <a:noFill/>
          <a:ln>
            <a:noFill/>
          </a:ln>
        </p:spPr>
      </p:pic>
      <p:sp>
        <p:nvSpPr>
          <p:cNvPr id="235" name="Google Shape;235;p35"/>
          <p:cNvSpPr txBox="1"/>
          <p:nvPr/>
        </p:nvSpPr>
        <p:spPr>
          <a:xfrm>
            <a:off x="6436659" y="1990165"/>
            <a:ext cx="4917000" cy="2308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want to identify when SLA breaches happens mostly Morning session or Afternoon session.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see that sla breaches are proportional to the incident volumes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To tackle this, providing additional resource during the morning session (8.00-11.00), will help with SLA adherence. </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None/>
            </a:pPr>
            <a:r>
              <a:rPr lang="en-US"/>
              <a:t>Forensic Analysis Objectives</a:t>
            </a:r>
            <a:endParaRPr/>
          </a:p>
        </p:txBody>
      </p:sp>
      <p:sp>
        <p:nvSpPr>
          <p:cNvPr id="242" name="Google Shape;242;p3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 Identify structural drivers of resolution delay</a:t>
            </a:r>
            <a:endParaRPr/>
          </a:p>
          <a:p>
            <a:pPr indent="0" lvl="0" marL="0" rtl="0" algn="l">
              <a:spcBef>
                <a:spcPts val="1000"/>
              </a:spcBef>
              <a:spcAft>
                <a:spcPts val="0"/>
              </a:spcAft>
              <a:buClr>
                <a:schemeClr val="dk1"/>
              </a:buClr>
              <a:buSzPts val="1100"/>
              <a:buFont typeface="Arial"/>
              <a:buNone/>
            </a:pPr>
            <a:r>
              <a:rPr lang="en-US"/>
              <a:t>• Evaluate impact of escalation depth on SLA breach</a:t>
            </a:r>
            <a:endParaRPr/>
          </a:p>
          <a:p>
            <a:pPr indent="0" lvl="0" marL="0" rtl="0" algn="l">
              <a:spcBef>
                <a:spcPts val="1000"/>
              </a:spcBef>
              <a:spcAft>
                <a:spcPts val="0"/>
              </a:spcAft>
              <a:buClr>
                <a:schemeClr val="dk1"/>
              </a:buClr>
              <a:buSzPts val="1100"/>
              <a:buFont typeface="Arial"/>
              <a:buNone/>
            </a:pPr>
            <a:r>
              <a:rPr lang="en-US"/>
              <a:t>• Validate SLA hierarchy assumptions</a:t>
            </a:r>
            <a:endParaRPr/>
          </a:p>
          <a:p>
            <a:pPr indent="0" lvl="0" marL="0" rtl="0" algn="l">
              <a:spcBef>
                <a:spcPts val="1000"/>
              </a:spcBef>
              <a:spcAft>
                <a:spcPts val="0"/>
              </a:spcAft>
              <a:buClr>
                <a:schemeClr val="dk1"/>
              </a:buClr>
              <a:buSzPts val="1100"/>
              <a:buFont typeface="Arial"/>
              <a:buNone/>
            </a:pPr>
            <a:r>
              <a:rPr lang="en-US"/>
              <a:t>• Detect temporal anomalies</a:t>
            </a:r>
            <a:endParaRPr/>
          </a:p>
          <a:p>
            <a:pPr indent="0" lvl="0" marL="0" rtl="0" algn="l">
              <a:spcBef>
                <a:spcPts val="1000"/>
              </a:spcBef>
              <a:spcAft>
                <a:spcPts val="0"/>
              </a:spcAft>
              <a:buNone/>
            </a:pPr>
            <a:r>
              <a:rPr lang="en-US"/>
              <a:t>• Reveal latent structural clusters using PCA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Escalation Impact on Resolution Time</a:t>
            </a:r>
            <a:endParaRPr/>
          </a:p>
        </p:txBody>
      </p:sp>
      <p:sp>
        <p:nvSpPr>
          <p:cNvPr id="248" name="Google Shape;248;p37"/>
          <p:cNvSpPr txBox="1"/>
          <p:nvPr/>
        </p:nvSpPr>
        <p:spPr>
          <a:xfrm>
            <a:off x="6603024" y="1690825"/>
            <a:ext cx="5367300" cy="5516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900">
                <a:solidFill>
                  <a:schemeClr val="dk1"/>
                </a:solidFill>
              </a:rPr>
              <a:t>Key Findings:</a:t>
            </a:r>
            <a:endParaRPr b="1" sz="1900">
              <a:solidFill>
                <a:schemeClr val="dk1"/>
              </a:solidFill>
            </a:endParaRPr>
          </a:p>
          <a:p>
            <a:pPr indent="0" lvl="0" marL="0" rtl="0" algn="l">
              <a:lnSpc>
                <a:spcPct val="115000"/>
              </a:lnSpc>
              <a:spcBef>
                <a:spcPts val="1200"/>
              </a:spcBef>
              <a:spcAft>
                <a:spcPts val="0"/>
              </a:spcAft>
              <a:buNone/>
            </a:pPr>
            <a:r>
              <a:rPr lang="en-US" sz="1700">
                <a:solidFill>
                  <a:schemeClr val="dk1"/>
                </a:solidFill>
              </a:rPr>
              <a:t>• Resolution time increases monotonically wit</a:t>
            </a:r>
            <a:r>
              <a:rPr lang="en-US" sz="1700">
                <a:solidFill>
                  <a:schemeClr val="dk1"/>
                </a:solidFill>
              </a:rPr>
              <a:t>h              </a:t>
            </a:r>
            <a:r>
              <a:rPr lang="en-US" sz="1700">
                <a:solidFill>
                  <a:schemeClr val="dk1"/>
                </a:solidFill>
              </a:rPr>
              <a:t>reassignment_count</a:t>
            </a:r>
            <a:br>
              <a:rPr lang="en-US" sz="1700">
                <a:solidFill>
                  <a:schemeClr val="dk1"/>
                </a:solidFill>
              </a:rPr>
            </a:br>
            <a:r>
              <a:rPr lang="en-US" sz="1700">
                <a:solidFill>
                  <a:schemeClr val="dk1"/>
                </a:solidFill>
              </a:rPr>
              <a:t> • Incidents reassigned ≥3 times show significantly higher median resolution</a:t>
            </a:r>
            <a:br>
              <a:rPr lang="en-US" sz="1700">
                <a:solidFill>
                  <a:schemeClr val="dk1"/>
                </a:solidFill>
              </a:rPr>
            </a:br>
            <a:r>
              <a:rPr lang="en-US" sz="1700">
                <a:solidFill>
                  <a:schemeClr val="dk1"/>
                </a:solidFill>
              </a:rPr>
              <a:t> • Clear structural inefficiency pattern</a:t>
            </a:r>
            <a:endParaRPr sz="1700">
              <a:solidFill>
                <a:schemeClr val="dk1"/>
              </a:solidFill>
            </a:endParaRPr>
          </a:p>
          <a:p>
            <a:pPr indent="0" lvl="0" marL="0" rtl="0" algn="l">
              <a:lnSpc>
                <a:spcPct val="115000"/>
              </a:lnSpc>
              <a:spcBef>
                <a:spcPts val="1400"/>
              </a:spcBef>
              <a:spcAft>
                <a:spcPts val="0"/>
              </a:spcAft>
              <a:buNone/>
            </a:pPr>
            <a:r>
              <a:rPr b="1" lang="en-US" sz="1900">
                <a:solidFill>
                  <a:schemeClr val="dk1"/>
                </a:solidFill>
              </a:rPr>
              <a:t>Interpretation:</a:t>
            </a:r>
            <a:endParaRPr b="1" sz="1900">
              <a:solidFill>
                <a:schemeClr val="dk1"/>
              </a:solidFill>
            </a:endParaRPr>
          </a:p>
          <a:p>
            <a:pPr indent="0" lvl="0" marL="0" rtl="0" algn="l">
              <a:lnSpc>
                <a:spcPct val="115000"/>
              </a:lnSpc>
              <a:spcBef>
                <a:spcPts val="1200"/>
              </a:spcBef>
              <a:spcAft>
                <a:spcPts val="0"/>
              </a:spcAft>
              <a:buNone/>
            </a:pPr>
            <a:r>
              <a:rPr lang="en-US" sz="1700">
                <a:solidFill>
                  <a:schemeClr val="dk1"/>
                </a:solidFill>
              </a:rPr>
              <a:t>Repeated handoffs introduce:</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Coordination overhead</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Communication delays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SLA timer continuation</a:t>
            </a:r>
            <a:endParaRPr sz="1700">
              <a:solidFill>
                <a:schemeClr val="dk1"/>
              </a:solidFill>
            </a:endParaRPr>
          </a:p>
          <a:p>
            <a:pPr indent="0" lvl="0" marL="0" rtl="0" algn="l">
              <a:lnSpc>
                <a:spcPct val="115000"/>
              </a:lnSpc>
              <a:spcBef>
                <a:spcPts val="1400"/>
              </a:spcBef>
              <a:spcAft>
                <a:spcPts val="0"/>
              </a:spcAft>
              <a:buNone/>
            </a:pPr>
            <a:r>
              <a:rPr b="1" lang="en-US" sz="1900">
                <a:solidFill>
                  <a:schemeClr val="dk1"/>
                </a:solidFill>
              </a:rPr>
              <a:t>Conclusion:</a:t>
            </a:r>
            <a:endParaRPr b="1" sz="1900">
              <a:solidFill>
                <a:schemeClr val="dk1"/>
              </a:solidFill>
            </a:endParaRPr>
          </a:p>
          <a:p>
            <a:pPr indent="0" lvl="0" marL="0" rtl="0" algn="l">
              <a:lnSpc>
                <a:spcPct val="115000"/>
              </a:lnSpc>
              <a:spcBef>
                <a:spcPts val="1200"/>
              </a:spcBef>
              <a:spcAft>
                <a:spcPts val="0"/>
              </a:spcAft>
              <a:buNone/>
            </a:pPr>
            <a:r>
              <a:rPr lang="en-US" sz="1700">
                <a:solidFill>
                  <a:schemeClr val="dk1"/>
                </a:solidFill>
              </a:rPr>
              <a:t>Escalation depth is a major operational bottleneck.</a:t>
            </a:r>
            <a:endParaRPr sz="17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49" name="Google Shape;249;p37"/>
          <p:cNvPicPr preferRelativeResize="0"/>
          <p:nvPr/>
        </p:nvPicPr>
        <p:blipFill>
          <a:blip r:embed="rId3">
            <a:alphaModFix/>
          </a:blip>
          <a:stretch>
            <a:fillRect/>
          </a:stretch>
        </p:blipFill>
        <p:spPr>
          <a:xfrm>
            <a:off x="345600" y="1729475"/>
            <a:ext cx="6131858" cy="478305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Priority-Level Performance</a:t>
            </a:r>
            <a:endParaRPr/>
          </a:p>
        </p:txBody>
      </p:sp>
      <p:sp>
        <p:nvSpPr>
          <p:cNvPr id="255" name="Google Shape;255;p38"/>
          <p:cNvSpPr txBox="1"/>
          <p:nvPr/>
        </p:nvSpPr>
        <p:spPr>
          <a:xfrm>
            <a:off x="6545074" y="2009575"/>
            <a:ext cx="5367300" cy="5647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2000">
                <a:solidFill>
                  <a:schemeClr val="dk1"/>
                </a:solidFill>
              </a:rPr>
              <a:t>Expected:</a:t>
            </a:r>
            <a:endParaRPr b="1" sz="2000">
              <a:solidFill>
                <a:schemeClr val="dk1"/>
              </a:solidFill>
            </a:endParaRPr>
          </a:p>
          <a:p>
            <a:pPr indent="0" lvl="0" marL="0" rtl="0" algn="l">
              <a:lnSpc>
                <a:spcPct val="115000"/>
              </a:lnSpc>
              <a:spcBef>
                <a:spcPts val="1200"/>
              </a:spcBef>
              <a:spcAft>
                <a:spcPts val="0"/>
              </a:spcAft>
              <a:buNone/>
            </a:pPr>
            <a:r>
              <a:rPr lang="en-US" sz="1800">
                <a:solidFill>
                  <a:schemeClr val="dk1"/>
                </a:solidFill>
              </a:rPr>
              <a:t>Priority 1 should resolve fastest.</a:t>
            </a:r>
            <a:endParaRPr sz="1800">
              <a:solidFill>
                <a:schemeClr val="dk1"/>
              </a:solidFill>
            </a:endParaRPr>
          </a:p>
          <a:p>
            <a:pPr indent="0" lvl="0" marL="0" rtl="0" algn="l">
              <a:lnSpc>
                <a:spcPct val="115000"/>
              </a:lnSpc>
              <a:spcBef>
                <a:spcPts val="1400"/>
              </a:spcBef>
              <a:spcAft>
                <a:spcPts val="0"/>
              </a:spcAft>
              <a:buNone/>
            </a:pPr>
            <a:r>
              <a:rPr b="1" lang="en-US" sz="2000">
                <a:solidFill>
                  <a:schemeClr val="dk1"/>
                </a:solidFill>
              </a:rPr>
              <a:t>Observed:</a:t>
            </a:r>
            <a:endParaRPr b="1" sz="2000">
              <a:solidFill>
                <a:schemeClr val="dk1"/>
              </a:solidFill>
            </a:endParaRPr>
          </a:p>
          <a:p>
            <a:pPr indent="0" lvl="0" marL="0" rtl="0" algn="l">
              <a:lnSpc>
                <a:spcPct val="115000"/>
              </a:lnSpc>
              <a:spcBef>
                <a:spcPts val="1200"/>
              </a:spcBef>
              <a:spcAft>
                <a:spcPts val="0"/>
              </a:spcAft>
              <a:buNone/>
            </a:pPr>
            <a:r>
              <a:rPr lang="en-US" sz="1800">
                <a:solidFill>
                  <a:schemeClr val="dk1"/>
                </a:solidFill>
              </a:rPr>
              <a:t>Priority 1 does NOT consistently resolve faster than Priority 2.</a:t>
            </a:r>
            <a:endParaRPr sz="1800">
              <a:solidFill>
                <a:schemeClr val="dk1"/>
              </a:solidFill>
            </a:endParaRPr>
          </a:p>
          <a:p>
            <a:pPr indent="0" lvl="0" marL="0" rtl="0" algn="l">
              <a:lnSpc>
                <a:spcPct val="115000"/>
              </a:lnSpc>
              <a:spcBef>
                <a:spcPts val="1400"/>
              </a:spcBef>
              <a:spcAft>
                <a:spcPts val="0"/>
              </a:spcAft>
              <a:buNone/>
            </a:pPr>
            <a:r>
              <a:rPr b="1" lang="en-US" sz="2000">
                <a:solidFill>
                  <a:schemeClr val="dk1"/>
                </a:solidFill>
              </a:rPr>
              <a:t>Implications:</a:t>
            </a:r>
            <a:endParaRPr b="1" sz="2000">
              <a:solidFill>
                <a:schemeClr val="dk1"/>
              </a:solidFill>
            </a:endParaRPr>
          </a:p>
          <a:p>
            <a:pPr indent="0" lvl="0" marL="0" rtl="0" algn="l">
              <a:lnSpc>
                <a:spcPct val="115000"/>
              </a:lnSpc>
              <a:spcBef>
                <a:spcPts val="1200"/>
              </a:spcBef>
              <a:spcAft>
                <a:spcPts val="0"/>
              </a:spcAft>
              <a:buNone/>
            </a:pPr>
            <a:r>
              <a:rPr lang="en-US" sz="1800">
                <a:solidFill>
                  <a:schemeClr val="dk1"/>
                </a:solidFill>
              </a:rPr>
              <a:t>• Possible workload saturation</a:t>
            </a:r>
            <a:br>
              <a:rPr lang="en-US" sz="1800">
                <a:solidFill>
                  <a:schemeClr val="dk1"/>
                </a:solidFill>
              </a:rPr>
            </a:br>
            <a:r>
              <a:rPr lang="en-US" sz="1800">
                <a:solidFill>
                  <a:schemeClr val="dk1"/>
                </a:solidFill>
              </a:rPr>
              <a:t> • Increased complexity in high-priority cases</a:t>
            </a:r>
            <a:br>
              <a:rPr lang="en-US" sz="1800">
                <a:solidFill>
                  <a:schemeClr val="dk1"/>
                </a:solidFill>
              </a:rPr>
            </a:br>
            <a:r>
              <a:rPr lang="en-US" sz="1800">
                <a:solidFill>
                  <a:schemeClr val="dk1"/>
                </a:solidFill>
              </a:rPr>
              <a:t> • Structural bottlenecks in critical incident handling</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This triggered deeper forensic investigation.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56" name="Google Shape;256;p38"/>
          <p:cNvPicPr preferRelativeResize="0"/>
          <p:nvPr/>
        </p:nvPicPr>
        <p:blipFill>
          <a:blip r:embed="rId3">
            <a:alphaModFix/>
          </a:blip>
          <a:stretch>
            <a:fillRect/>
          </a:stretch>
        </p:blipFill>
        <p:spPr>
          <a:xfrm>
            <a:off x="152400" y="1843225"/>
            <a:ext cx="6298225" cy="465924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SLA Breach vs Escalation Depth</a:t>
            </a:r>
            <a:endParaRPr/>
          </a:p>
        </p:txBody>
      </p:sp>
      <p:sp>
        <p:nvSpPr>
          <p:cNvPr id="262" name="Google Shape;262;p39"/>
          <p:cNvSpPr txBox="1"/>
          <p:nvPr/>
        </p:nvSpPr>
        <p:spPr>
          <a:xfrm>
            <a:off x="6545074" y="2009575"/>
            <a:ext cx="5367300" cy="5940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2000">
                <a:solidFill>
                  <a:schemeClr val="dk1"/>
                </a:solidFill>
              </a:rPr>
              <a:t>Findings:</a:t>
            </a:r>
            <a:endParaRPr b="1" sz="2000">
              <a:solidFill>
                <a:schemeClr val="dk1"/>
              </a:solidFill>
            </a:endParaRPr>
          </a:p>
          <a:p>
            <a:pPr indent="0" lvl="0" marL="0" rtl="0" algn="l">
              <a:lnSpc>
                <a:spcPct val="115000"/>
              </a:lnSpc>
              <a:spcBef>
                <a:spcPts val="1200"/>
              </a:spcBef>
              <a:spcAft>
                <a:spcPts val="0"/>
              </a:spcAft>
              <a:buNone/>
            </a:pPr>
            <a:r>
              <a:rPr lang="en-US" sz="1800">
                <a:solidFill>
                  <a:schemeClr val="dk1"/>
                </a:solidFill>
              </a:rPr>
              <a:t>• SLA breach probability increases with reassignment_count</a:t>
            </a:r>
            <a:br>
              <a:rPr lang="en-US" sz="1800">
                <a:solidFill>
                  <a:schemeClr val="dk1"/>
                </a:solidFill>
              </a:rPr>
            </a:br>
            <a:r>
              <a:rPr lang="en-US" sz="1800">
                <a:solidFill>
                  <a:schemeClr val="dk1"/>
                </a:solidFill>
              </a:rPr>
              <a:t> • Multiple escalations strongly correlated with SLA failure</a:t>
            </a:r>
            <a:endParaRPr sz="1800">
              <a:solidFill>
                <a:schemeClr val="dk1"/>
              </a:solidFill>
            </a:endParaRPr>
          </a:p>
          <a:p>
            <a:pPr indent="0" lvl="0" marL="0" rtl="0" algn="l">
              <a:lnSpc>
                <a:spcPct val="115000"/>
              </a:lnSpc>
              <a:spcBef>
                <a:spcPts val="1400"/>
              </a:spcBef>
              <a:spcAft>
                <a:spcPts val="0"/>
              </a:spcAft>
              <a:buNone/>
            </a:pPr>
            <a:r>
              <a:rPr b="1" lang="en-US" sz="2000">
                <a:solidFill>
                  <a:schemeClr val="dk1"/>
                </a:solidFill>
              </a:rPr>
              <a:t>Insight:</a:t>
            </a:r>
            <a:endParaRPr b="1" sz="2000">
              <a:solidFill>
                <a:schemeClr val="dk1"/>
              </a:solidFill>
            </a:endParaRPr>
          </a:p>
          <a:p>
            <a:pPr indent="0" lvl="0" marL="0" rtl="0" algn="l">
              <a:lnSpc>
                <a:spcPct val="115000"/>
              </a:lnSpc>
              <a:spcBef>
                <a:spcPts val="1200"/>
              </a:spcBef>
              <a:spcAft>
                <a:spcPts val="0"/>
              </a:spcAft>
              <a:buNone/>
            </a:pPr>
            <a:r>
              <a:rPr lang="en-US" sz="1800">
                <a:solidFill>
                  <a:schemeClr val="dk1"/>
                </a:solidFill>
              </a:rPr>
              <a:t>Escalation affects BOTH:</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Resolution time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SLA compliance</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Structural inefficiency confirmed.</a:t>
            </a:r>
            <a:endParaRPr sz="18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63" name="Google Shape;263;p39"/>
          <p:cNvPicPr preferRelativeResize="0"/>
          <p:nvPr/>
        </p:nvPicPr>
        <p:blipFill>
          <a:blip r:embed="rId3">
            <a:alphaModFix/>
          </a:blip>
          <a:stretch>
            <a:fillRect/>
          </a:stretch>
        </p:blipFill>
        <p:spPr>
          <a:xfrm>
            <a:off x="461500" y="1690825"/>
            <a:ext cx="5769891" cy="4862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SLA Breach by Priority</a:t>
            </a:r>
            <a:endParaRPr/>
          </a:p>
        </p:txBody>
      </p:sp>
      <p:sp>
        <p:nvSpPr>
          <p:cNvPr id="269" name="Google Shape;269;p40"/>
          <p:cNvSpPr txBox="1"/>
          <p:nvPr/>
        </p:nvSpPr>
        <p:spPr>
          <a:xfrm>
            <a:off x="6545074" y="2009575"/>
            <a:ext cx="5367300" cy="5432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800">
                <a:solidFill>
                  <a:schemeClr val="dk1"/>
                </a:solidFill>
              </a:rPr>
              <a:t>Key Observation:</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 Breach rates remain high across ALL priority levels</a:t>
            </a:r>
            <a:br>
              <a:rPr lang="en-US" sz="1800">
                <a:solidFill>
                  <a:schemeClr val="dk1"/>
                </a:solidFill>
              </a:rPr>
            </a:br>
            <a:r>
              <a:rPr lang="en-US" sz="1800">
                <a:solidFill>
                  <a:schemeClr val="dk1"/>
                </a:solidFill>
              </a:rPr>
              <a:t> • Even high-priority incidents breach SLA frequently</a:t>
            </a:r>
            <a:endParaRPr sz="1800">
              <a:solidFill>
                <a:schemeClr val="dk1"/>
              </a:solidFill>
            </a:endParaRPr>
          </a:p>
          <a:p>
            <a:pPr indent="0" lvl="0" marL="0" rtl="0" algn="l">
              <a:lnSpc>
                <a:spcPct val="115000"/>
              </a:lnSpc>
              <a:spcBef>
                <a:spcPts val="1400"/>
              </a:spcBef>
              <a:spcAft>
                <a:spcPts val="0"/>
              </a:spcAft>
              <a:buNone/>
            </a:pPr>
            <a:r>
              <a:rPr b="1" lang="en-US" sz="1800">
                <a:solidFill>
                  <a:schemeClr val="dk1"/>
                </a:solidFill>
              </a:rPr>
              <a:t>Interpretation:</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Problem is NOT just urgency classification</a:t>
            </a:r>
            <a:br>
              <a:rPr lang="en-US" sz="1800">
                <a:solidFill>
                  <a:schemeClr val="dk1"/>
                </a:solidFill>
              </a:rPr>
            </a:br>
            <a:r>
              <a:rPr lang="en-US" sz="1800">
                <a:solidFill>
                  <a:schemeClr val="dk1"/>
                </a:solidFill>
              </a:rPr>
              <a:t> It indicates systemic workflow inefficiencies.</a:t>
            </a:r>
            <a:endParaRPr sz="18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70" name="Google Shape;270;p40"/>
          <p:cNvPicPr preferRelativeResize="0"/>
          <p:nvPr/>
        </p:nvPicPr>
        <p:blipFill>
          <a:blip r:embed="rId3">
            <a:alphaModFix/>
          </a:blip>
          <a:stretch>
            <a:fillRect/>
          </a:stretch>
        </p:blipFill>
        <p:spPr>
          <a:xfrm>
            <a:off x="152400" y="1843225"/>
            <a:ext cx="5977862" cy="48623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SLA Breach by Category</a:t>
            </a:r>
            <a:endParaRPr/>
          </a:p>
        </p:txBody>
      </p:sp>
      <p:sp>
        <p:nvSpPr>
          <p:cNvPr id="276" name="Google Shape;276;p41"/>
          <p:cNvSpPr txBox="1"/>
          <p:nvPr/>
        </p:nvSpPr>
        <p:spPr>
          <a:xfrm>
            <a:off x="6545074" y="2009575"/>
            <a:ext cx="5367300" cy="5586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800">
                <a:solidFill>
                  <a:schemeClr val="dk1"/>
                </a:solidFill>
              </a:rPr>
              <a:t>Findings:</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 Certain high-volume categories show disproportionately high breach rates</a:t>
            </a:r>
            <a:br>
              <a:rPr lang="en-US" sz="1800">
                <a:solidFill>
                  <a:schemeClr val="dk1"/>
                </a:solidFill>
              </a:rPr>
            </a:br>
            <a:r>
              <a:rPr lang="en-US" sz="1800">
                <a:solidFill>
                  <a:schemeClr val="dk1"/>
                </a:solidFill>
              </a:rPr>
              <a:t> • Indicates localized workflow bottlenecks</a:t>
            </a:r>
            <a:endParaRPr sz="1800">
              <a:solidFill>
                <a:schemeClr val="dk1"/>
              </a:solidFill>
            </a:endParaRPr>
          </a:p>
          <a:p>
            <a:pPr indent="0" lvl="0" marL="0" rtl="0" algn="l">
              <a:lnSpc>
                <a:spcPct val="115000"/>
              </a:lnSpc>
              <a:spcBef>
                <a:spcPts val="1400"/>
              </a:spcBef>
              <a:spcAft>
                <a:spcPts val="0"/>
              </a:spcAft>
              <a:buNone/>
            </a:pPr>
            <a:r>
              <a:rPr b="1" lang="en-US" sz="1800">
                <a:solidFill>
                  <a:schemeClr val="dk1"/>
                </a:solidFill>
              </a:rPr>
              <a:t>Operational Recommendation:</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 Assign specialized teams</a:t>
            </a:r>
            <a:br>
              <a:rPr lang="en-US" sz="1800">
                <a:solidFill>
                  <a:schemeClr val="dk1"/>
                </a:solidFill>
              </a:rPr>
            </a:br>
            <a:r>
              <a:rPr lang="en-US" sz="1800">
                <a:solidFill>
                  <a:schemeClr val="dk1"/>
                </a:solidFill>
              </a:rPr>
              <a:t> • Optimize category-specific workflows</a:t>
            </a:r>
            <a:endParaRPr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77" name="Google Shape;277;p41"/>
          <p:cNvPicPr preferRelativeResize="0"/>
          <p:nvPr/>
        </p:nvPicPr>
        <p:blipFill>
          <a:blip r:embed="rId3">
            <a:alphaModFix/>
          </a:blip>
          <a:stretch>
            <a:fillRect/>
          </a:stretch>
        </p:blipFill>
        <p:spPr>
          <a:xfrm>
            <a:off x="152400" y="1843225"/>
            <a:ext cx="6135399" cy="4862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type="title"/>
          </p:nvPr>
        </p:nvSpPr>
        <p:spPr>
          <a:xfrm>
            <a:off x="509800" y="2975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Dimensionality Reduction (PCA)</a:t>
            </a:r>
            <a:endParaRPr/>
          </a:p>
        </p:txBody>
      </p:sp>
      <p:sp>
        <p:nvSpPr>
          <p:cNvPr id="283" name="Google Shape;283;p42"/>
          <p:cNvSpPr txBox="1"/>
          <p:nvPr/>
        </p:nvSpPr>
        <p:spPr>
          <a:xfrm>
            <a:off x="6419499" y="1362400"/>
            <a:ext cx="5367300" cy="8155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500">
                <a:solidFill>
                  <a:schemeClr val="dk1"/>
                </a:solidFill>
              </a:rPr>
              <a:t>Applied PCA on:</a:t>
            </a:r>
            <a:endParaRPr b="1" sz="1500">
              <a:solidFill>
                <a:schemeClr val="dk1"/>
              </a:solidFill>
            </a:endParaRPr>
          </a:p>
          <a:p>
            <a:pPr indent="0" lvl="0" marL="0" rtl="0" algn="l">
              <a:lnSpc>
                <a:spcPct val="115000"/>
              </a:lnSpc>
              <a:spcBef>
                <a:spcPts val="1200"/>
              </a:spcBef>
              <a:spcAft>
                <a:spcPts val="0"/>
              </a:spcAft>
              <a:buNone/>
            </a:pPr>
            <a:r>
              <a:rPr lang="en-US" sz="1500">
                <a:solidFill>
                  <a:schemeClr val="dk1"/>
                </a:solidFill>
              </a:rPr>
              <a:t>[reassignment_count, reopen_count, sys_mod_count, priority, impact, urgency]</a:t>
            </a:r>
            <a:endParaRPr sz="1500">
              <a:solidFill>
                <a:schemeClr val="dk1"/>
              </a:solidFill>
            </a:endParaRPr>
          </a:p>
          <a:p>
            <a:pPr indent="0" lvl="0" marL="0" rtl="0" algn="l">
              <a:lnSpc>
                <a:spcPct val="115000"/>
              </a:lnSpc>
              <a:spcBef>
                <a:spcPts val="1200"/>
              </a:spcBef>
              <a:spcAft>
                <a:spcPts val="0"/>
              </a:spcAft>
              <a:buNone/>
            </a:pPr>
            <a:r>
              <a:rPr lang="en-US" sz="1500">
                <a:solidFill>
                  <a:schemeClr val="dk1"/>
                </a:solidFill>
              </a:rPr>
              <a:t>pc1 - overall incident complexity</a:t>
            </a:r>
            <a:endParaRPr sz="1500">
              <a:solidFill>
                <a:schemeClr val="dk1"/>
              </a:solidFill>
            </a:endParaRPr>
          </a:p>
          <a:p>
            <a:pPr indent="0" lvl="0" marL="0" rtl="0" algn="l">
              <a:lnSpc>
                <a:spcPct val="115000"/>
              </a:lnSpc>
              <a:spcBef>
                <a:spcPts val="1200"/>
              </a:spcBef>
              <a:spcAft>
                <a:spcPts val="0"/>
              </a:spcAft>
              <a:buNone/>
            </a:pPr>
            <a:r>
              <a:rPr lang="en-US" sz="1500">
                <a:solidFill>
                  <a:schemeClr val="dk1"/>
                </a:solidFill>
              </a:rPr>
              <a:t>pc2 - </a:t>
            </a:r>
            <a:r>
              <a:rPr lang="en-US" sz="1500">
                <a:solidFill>
                  <a:schemeClr val="dk1"/>
                </a:solidFill>
              </a:rPr>
              <a:t>escalation</a:t>
            </a:r>
            <a:r>
              <a:rPr lang="en-US" sz="1500">
                <a:solidFill>
                  <a:schemeClr val="dk1"/>
                </a:solidFill>
              </a:rPr>
              <a:t> vs urgency </a:t>
            </a:r>
            <a:r>
              <a:rPr lang="en-US" sz="1500">
                <a:solidFill>
                  <a:schemeClr val="dk1"/>
                </a:solidFill>
              </a:rPr>
              <a:t>trade off</a:t>
            </a:r>
            <a:endParaRPr sz="1500">
              <a:solidFill>
                <a:schemeClr val="dk1"/>
              </a:solidFill>
            </a:endParaRPr>
          </a:p>
          <a:p>
            <a:pPr indent="0" lvl="0" marL="0" rtl="0" algn="l">
              <a:lnSpc>
                <a:spcPct val="115000"/>
              </a:lnSpc>
              <a:spcBef>
                <a:spcPts val="1400"/>
              </a:spcBef>
              <a:spcAft>
                <a:spcPts val="0"/>
              </a:spcAft>
              <a:buNone/>
            </a:pPr>
            <a:r>
              <a:rPr b="1" lang="en-US" sz="1500">
                <a:solidFill>
                  <a:schemeClr val="dk1"/>
                </a:solidFill>
              </a:rPr>
              <a:t>Why?</a:t>
            </a:r>
            <a:endParaRPr b="1" sz="1500">
              <a:solidFill>
                <a:schemeClr val="dk1"/>
              </a:solidFill>
            </a:endParaRPr>
          </a:p>
          <a:p>
            <a:pPr indent="0" lvl="0" marL="0" rtl="0" algn="l">
              <a:lnSpc>
                <a:spcPct val="115000"/>
              </a:lnSpc>
              <a:spcBef>
                <a:spcPts val="1200"/>
              </a:spcBef>
              <a:spcAft>
                <a:spcPts val="0"/>
              </a:spcAft>
              <a:buNone/>
            </a:pPr>
            <a:r>
              <a:rPr lang="en-US" sz="1500">
                <a:solidFill>
                  <a:schemeClr val="dk1"/>
                </a:solidFill>
              </a:rPr>
              <a:t>To detect latent structural patterns in incident behavior.</a:t>
            </a:r>
            <a:endParaRPr sz="1500">
              <a:solidFill>
                <a:schemeClr val="dk1"/>
              </a:solidFill>
            </a:endParaRPr>
          </a:p>
          <a:p>
            <a:pPr indent="0" lvl="0" marL="0" rtl="0" algn="l">
              <a:lnSpc>
                <a:spcPct val="115000"/>
              </a:lnSpc>
              <a:spcBef>
                <a:spcPts val="1400"/>
              </a:spcBef>
              <a:spcAft>
                <a:spcPts val="0"/>
              </a:spcAft>
              <a:buNone/>
            </a:pPr>
            <a:r>
              <a:rPr b="1" lang="en-US" sz="1500">
                <a:solidFill>
                  <a:schemeClr val="dk1"/>
                </a:solidFill>
              </a:rPr>
              <a:t>Result:</a:t>
            </a:r>
            <a:endParaRPr b="1" sz="1500">
              <a:solidFill>
                <a:schemeClr val="dk1"/>
              </a:solidFill>
            </a:endParaRPr>
          </a:p>
          <a:p>
            <a:pPr indent="0" lvl="0" marL="0" rtl="0" algn="l">
              <a:lnSpc>
                <a:spcPct val="115000"/>
              </a:lnSpc>
              <a:spcBef>
                <a:spcPts val="1200"/>
              </a:spcBef>
              <a:spcAft>
                <a:spcPts val="0"/>
              </a:spcAft>
              <a:buNone/>
            </a:pPr>
            <a:r>
              <a:rPr lang="en-US" sz="1500">
                <a:solidFill>
                  <a:schemeClr val="dk1"/>
                </a:solidFill>
              </a:rPr>
              <a:t>• Incidents form structural clusters</a:t>
            </a:r>
            <a:br>
              <a:rPr lang="en-US" sz="1500">
                <a:solidFill>
                  <a:schemeClr val="dk1"/>
                </a:solidFill>
              </a:rPr>
            </a:br>
            <a:r>
              <a:rPr lang="en-US" sz="1500">
                <a:solidFill>
                  <a:schemeClr val="dk1"/>
                </a:solidFill>
              </a:rPr>
              <a:t> • Routine cases cluster tightly</a:t>
            </a:r>
            <a:br>
              <a:rPr lang="en-US" sz="1500">
                <a:solidFill>
                  <a:schemeClr val="dk1"/>
                </a:solidFill>
              </a:rPr>
            </a:br>
            <a:r>
              <a:rPr lang="en-US" sz="1500">
                <a:solidFill>
                  <a:schemeClr val="dk1"/>
                </a:solidFill>
              </a:rPr>
              <a:t> • High-complexity incidents spread out</a:t>
            </a:r>
            <a:endParaRPr sz="1500">
              <a:solidFill>
                <a:schemeClr val="dk1"/>
              </a:solidFill>
            </a:endParaRPr>
          </a:p>
          <a:p>
            <a:pPr indent="0" lvl="0" marL="0" rtl="0" algn="l">
              <a:lnSpc>
                <a:spcPct val="115000"/>
              </a:lnSpc>
              <a:spcBef>
                <a:spcPts val="1400"/>
              </a:spcBef>
              <a:spcAft>
                <a:spcPts val="0"/>
              </a:spcAft>
              <a:buNone/>
            </a:pPr>
            <a:r>
              <a:rPr b="1" lang="en-US" sz="1500">
                <a:solidFill>
                  <a:schemeClr val="dk1"/>
                </a:solidFill>
              </a:rPr>
              <a:t>Insight:</a:t>
            </a:r>
            <a:endParaRPr b="1" sz="1500">
              <a:solidFill>
                <a:schemeClr val="dk1"/>
              </a:solidFill>
            </a:endParaRPr>
          </a:p>
          <a:p>
            <a:pPr indent="0" lvl="0" marL="0" rtl="0" algn="l">
              <a:lnSpc>
                <a:spcPct val="115000"/>
              </a:lnSpc>
              <a:spcBef>
                <a:spcPts val="1200"/>
              </a:spcBef>
              <a:spcAft>
                <a:spcPts val="0"/>
              </a:spcAft>
              <a:buNone/>
            </a:pPr>
            <a:r>
              <a:rPr lang="en-US" sz="1500">
                <a:solidFill>
                  <a:schemeClr val="dk1"/>
                </a:solidFill>
              </a:rPr>
              <a:t>Incident behavior lies on correlated operational manifolds, not random variation.</a:t>
            </a:r>
            <a:endParaRPr sz="1500">
              <a:solidFill>
                <a:schemeClr val="dk1"/>
              </a:solidFill>
            </a:endParaRPr>
          </a:p>
          <a:p>
            <a:pPr indent="0" lvl="0" marL="0" rtl="0" algn="l">
              <a:lnSpc>
                <a:spcPct val="115000"/>
              </a:lnSpc>
              <a:spcBef>
                <a:spcPts val="1200"/>
              </a:spcBef>
              <a:spcAft>
                <a:spcPts val="0"/>
              </a:spcAft>
              <a:buNone/>
            </a:pPr>
            <a:r>
              <a:t/>
            </a:r>
            <a:endParaRPr b="1" sz="1500">
              <a:solidFill>
                <a:schemeClr val="dk1"/>
              </a:solidFill>
            </a:endParaRPr>
          </a:p>
          <a:p>
            <a:pPr indent="0" lvl="0" marL="0" rtl="0" algn="l">
              <a:lnSpc>
                <a:spcPct val="115000"/>
              </a:lnSpc>
              <a:spcBef>
                <a:spcPts val="1200"/>
              </a:spcBef>
              <a:spcAft>
                <a:spcPts val="0"/>
              </a:spcAft>
              <a:buNone/>
            </a:pPr>
            <a:r>
              <a:t/>
            </a:r>
            <a:endParaRPr b="1" sz="1500">
              <a:solidFill>
                <a:schemeClr val="dk1"/>
              </a:solidFill>
            </a:endParaRPr>
          </a:p>
          <a:p>
            <a:pPr indent="0" lvl="0" marL="0" rtl="0" algn="l">
              <a:lnSpc>
                <a:spcPct val="115000"/>
              </a:lnSpc>
              <a:spcBef>
                <a:spcPts val="12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t/>
            </a:r>
            <a:endParaRPr b="1" sz="1000">
              <a:solidFill>
                <a:schemeClr val="dk1"/>
              </a:solidFill>
            </a:endParaRPr>
          </a:p>
          <a:p>
            <a:pPr indent="0" lvl="0" marL="0" rtl="0" algn="l">
              <a:lnSpc>
                <a:spcPct val="115000"/>
              </a:lnSpc>
              <a:spcBef>
                <a:spcPts val="1200"/>
              </a:spcBef>
              <a:spcAft>
                <a:spcPts val="0"/>
              </a:spcAft>
              <a:buNone/>
            </a:pPr>
            <a:r>
              <a:t/>
            </a:r>
            <a:endParaRPr b="1" sz="1500">
              <a:solidFill>
                <a:schemeClr val="dk1"/>
              </a:solidFill>
            </a:endParaRPr>
          </a:p>
          <a:p>
            <a:pPr indent="0" lvl="0" marL="457200" marR="0" rtl="0" algn="l">
              <a:spcBef>
                <a:spcPts val="1200"/>
              </a:spcBef>
              <a:spcAft>
                <a:spcPts val="0"/>
              </a:spcAft>
              <a:buNone/>
            </a:pPr>
            <a:r>
              <a:t/>
            </a:r>
            <a:endParaRPr sz="1500">
              <a:solidFill>
                <a:schemeClr val="dk1"/>
              </a:solidFill>
              <a:latin typeface="Calibri"/>
              <a:ea typeface="Calibri"/>
              <a:cs typeface="Calibri"/>
              <a:sym typeface="Calibri"/>
            </a:endParaRPr>
          </a:p>
        </p:txBody>
      </p:sp>
      <p:pic>
        <p:nvPicPr>
          <p:cNvPr id="284" name="Google Shape;284;p42"/>
          <p:cNvPicPr preferRelativeResize="0"/>
          <p:nvPr/>
        </p:nvPicPr>
        <p:blipFill>
          <a:blip r:embed="rId3">
            <a:alphaModFix/>
          </a:blip>
          <a:stretch>
            <a:fillRect/>
          </a:stretch>
        </p:blipFill>
        <p:spPr>
          <a:xfrm>
            <a:off x="152400" y="1843225"/>
            <a:ext cx="6114701" cy="387361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509800" y="2975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May 2016 Anomaly</a:t>
            </a:r>
            <a:endParaRPr/>
          </a:p>
        </p:txBody>
      </p:sp>
      <p:sp>
        <p:nvSpPr>
          <p:cNvPr id="290" name="Google Shape;290;p43"/>
          <p:cNvSpPr txBox="1"/>
          <p:nvPr/>
        </p:nvSpPr>
        <p:spPr>
          <a:xfrm>
            <a:off x="6438824" y="2048200"/>
            <a:ext cx="5367300" cy="6392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800">
                <a:solidFill>
                  <a:schemeClr val="dk1"/>
                </a:solidFill>
              </a:rPr>
              <a:t>Observation:</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Priority 1 median resolution = 190 hours</a:t>
            </a:r>
            <a:br>
              <a:rPr lang="en-US" sz="1800">
                <a:solidFill>
                  <a:schemeClr val="dk1"/>
                </a:solidFill>
              </a:rPr>
            </a:br>
            <a:r>
              <a:rPr lang="en-US" sz="1800">
                <a:solidFill>
                  <a:schemeClr val="dk1"/>
                </a:solidFill>
              </a:rPr>
              <a:t> Priority 2 median resolution = 141 hours</a:t>
            </a:r>
            <a:endParaRPr sz="1800">
              <a:solidFill>
                <a:schemeClr val="dk1"/>
              </a:solidFill>
            </a:endParaRPr>
          </a:p>
          <a:p>
            <a:pPr indent="0" lvl="0" marL="0" rtl="0" algn="l">
              <a:lnSpc>
                <a:spcPct val="115000"/>
              </a:lnSpc>
              <a:spcBef>
                <a:spcPts val="1400"/>
              </a:spcBef>
              <a:spcAft>
                <a:spcPts val="0"/>
              </a:spcAft>
              <a:buNone/>
            </a:pPr>
            <a:r>
              <a:rPr b="1" lang="en-US" sz="1800">
                <a:solidFill>
                  <a:schemeClr val="dk1"/>
                </a:solidFill>
              </a:rPr>
              <a:t>This violates SLA expectation.</a:t>
            </a:r>
            <a:endParaRPr b="1" sz="1800">
              <a:solidFill>
                <a:schemeClr val="dk1"/>
              </a:solidFill>
            </a:endParaRPr>
          </a:p>
          <a:p>
            <a:pPr indent="0" lvl="0" marL="0" rtl="0" algn="l">
              <a:lnSpc>
                <a:spcPct val="115000"/>
              </a:lnSpc>
              <a:spcBef>
                <a:spcPts val="1400"/>
              </a:spcBef>
              <a:spcAft>
                <a:spcPts val="0"/>
              </a:spcAft>
              <a:buNone/>
            </a:pPr>
            <a:r>
              <a:rPr b="1" lang="en-US" sz="1800">
                <a:solidFill>
                  <a:schemeClr val="dk1"/>
                </a:solidFill>
              </a:rPr>
              <a:t>Interpretation:</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Localized operational anomaly.</a:t>
            </a:r>
            <a:endParaRPr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91" name="Google Shape;291;p43"/>
          <p:cNvPicPr preferRelativeResize="0"/>
          <p:nvPr/>
        </p:nvPicPr>
        <p:blipFill>
          <a:blip r:embed="rId3">
            <a:alphaModFix/>
          </a:blip>
          <a:stretch>
            <a:fillRect/>
          </a:stretch>
        </p:blipFill>
        <p:spPr>
          <a:xfrm>
            <a:off x="229675" y="1178900"/>
            <a:ext cx="5780775" cy="5733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4"/>
          <p:cNvSpPr txBox="1"/>
          <p:nvPr>
            <p:ph type="title"/>
          </p:nvPr>
        </p:nvSpPr>
        <p:spPr>
          <a:xfrm>
            <a:off x="646650" y="3169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2400"/>
              </a:spcBef>
              <a:spcAft>
                <a:spcPts val="0"/>
              </a:spcAft>
              <a:buClr>
                <a:schemeClr val="dk1"/>
              </a:buClr>
              <a:buSzPts val="1100"/>
              <a:buFont typeface="Arial"/>
              <a:buNone/>
            </a:pPr>
            <a:r>
              <a:rPr b="1" lang="en-US" sz="2700">
                <a:latin typeface="Arial"/>
                <a:ea typeface="Arial"/>
                <a:cs typeface="Arial"/>
                <a:sym typeface="Arial"/>
              </a:rPr>
              <a:t>Root Cause Analysis (May 2016)</a:t>
            </a:r>
            <a:endParaRPr b="1" sz="2700">
              <a:latin typeface="Arial"/>
              <a:ea typeface="Arial"/>
              <a:cs typeface="Arial"/>
              <a:sym typeface="Arial"/>
            </a:endParaRPr>
          </a:p>
          <a:p>
            <a:pPr indent="0" lvl="0" marL="0" rtl="0" algn="l">
              <a:lnSpc>
                <a:spcPct val="90000"/>
              </a:lnSpc>
              <a:spcBef>
                <a:spcPts val="600"/>
              </a:spcBef>
              <a:spcAft>
                <a:spcPts val="0"/>
              </a:spcAft>
              <a:buClr>
                <a:schemeClr val="dk1"/>
              </a:buClr>
              <a:buSzPts val="4400"/>
              <a:buFont typeface="Calibri"/>
              <a:buNone/>
            </a:pPr>
            <a:r>
              <a:t/>
            </a:r>
            <a:endParaRPr/>
          </a:p>
        </p:txBody>
      </p:sp>
      <p:sp>
        <p:nvSpPr>
          <p:cNvPr id="297" name="Google Shape;297;p44"/>
          <p:cNvSpPr txBox="1"/>
          <p:nvPr/>
        </p:nvSpPr>
        <p:spPr>
          <a:xfrm>
            <a:off x="646650" y="3303625"/>
            <a:ext cx="10047900" cy="7494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800">
                <a:solidFill>
                  <a:schemeClr val="dk1"/>
                </a:solidFill>
              </a:rPr>
              <a:t>Investigated:</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 Escalation depth → Normal</a:t>
            </a:r>
            <a:br>
              <a:rPr lang="en-US" sz="1800">
                <a:solidFill>
                  <a:schemeClr val="dk1"/>
                </a:solidFill>
              </a:rPr>
            </a:br>
            <a:r>
              <a:rPr lang="en-US" sz="1800">
                <a:solidFill>
                  <a:schemeClr val="dk1"/>
                </a:solidFill>
              </a:rPr>
              <a:t> • Reopen count → Normal</a:t>
            </a:r>
            <a:br>
              <a:rPr lang="en-US" sz="1800">
                <a:solidFill>
                  <a:schemeClr val="dk1"/>
                </a:solidFill>
              </a:rPr>
            </a:br>
            <a:r>
              <a:rPr lang="en-US" sz="1800">
                <a:solidFill>
                  <a:schemeClr val="dk1"/>
                </a:solidFill>
              </a:rPr>
              <a:t> • sys_mod_count → Elevated</a:t>
            </a:r>
            <a:endParaRPr sz="1800">
              <a:solidFill>
                <a:schemeClr val="dk1"/>
              </a:solidFill>
            </a:endParaRPr>
          </a:p>
          <a:p>
            <a:pPr indent="0" lvl="0" marL="0" rtl="0" algn="l">
              <a:lnSpc>
                <a:spcPct val="115000"/>
              </a:lnSpc>
              <a:spcBef>
                <a:spcPts val="1400"/>
              </a:spcBef>
              <a:spcAft>
                <a:spcPts val="0"/>
              </a:spcAft>
              <a:buNone/>
            </a:pPr>
            <a:r>
              <a:rPr b="1" lang="en-US" sz="1800">
                <a:solidFill>
                  <a:schemeClr val="dk1"/>
                </a:solidFill>
              </a:rPr>
              <a:t>Interpretation:</a:t>
            </a:r>
            <a:endParaRPr b="1" sz="1800">
              <a:solidFill>
                <a:schemeClr val="dk1"/>
              </a:solidFill>
            </a:endParaRPr>
          </a:p>
          <a:p>
            <a:pPr indent="0" lvl="0" marL="0" rtl="0" algn="l">
              <a:lnSpc>
                <a:spcPct val="115000"/>
              </a:lnSpc>
              <a:spcBef>
                <a:spcPts val="1200"/>
              </a:spcBef>
              <a:spcAft>
                <a:spcPts val="0"/>
              </a:spcAft>
              <a:buNone/>
            </a:pPr>
            <a:r>
              <a:rPr lang="en-US" sz="1800">
                <a:solidFill>
                  <a:schemeClr val="dk1"/>
                </a:solidFill>
              </a:rPr>
              <a:t>Higher workflow modification intensity</a:t>
            </a:r>
            <a:br>
              <a:rPr lang="en-US" sz="1800">
                <a:solidFill>
                  <a:schemeClr val="dk1"/>
                </a:solidFill>
              </a:rPr>
            </a:br>
            <a:r>
              <a:rPr lang="en-US" sz="1800">
                <a:solidFill>
                  <a:schemeClr val="dk1"/>
                </a:solidFill>
              </a:rPr>
              <a:t>Indicates internal coordination strain</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Likely systemic overload during May 2016.</a:t>
            </a:r>
            <a:endParaRPr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pic>
        <p:nvPicPr>
          <p:cNvPr id="298" name="Google Shape;298;p44"/>
          <p:cNvPicPr preferRelativeResize="0"/>
          <p:nvPr/>
        </p:nvPicPr>
        <p:blipFill>
          <a:blip r:embed="rId3">
            <a:alphaModFix/>
          </a:blip>
          <a:stretch>
            <a:fillRect/>
          </a:stretch>
        </p:blipFill>
        <p:spPr>
          <a:xfrm>
            <a:off x="0" y="808075"/>
            <a:ext cx="11068050" cy="24955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None/>
            </a:pPr>
            <a:r>
              <a:rPr lang="en-US"/>
              <a:t>Forensic Conclusions &amp; Impact</a:t>
            </a:r>
            <a:endParaRPr/>
          </a:p>
        </p:txBody>
      </p:sp>
      <p:sp>
        <p:nvSpPr>
          <p:cNvPr id="305" name="Google Shape;305;p45"/>
          <p:cNvSpPr txBox="1"/>
          <p:nvPr>
            <p:ph idx="1" type="body"/>
          </p:nvPr>
        </p:nvSpPr>
        <p:spPr>
          <a:xfrm>
            <a:off x="944900" y="1408500"/>
            <a:ext cx="10515600" cy="43512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935"/>
              <a:buFont typeface="Arial"/>
              <a:buNone/>
            </a:pPr>
            <a:r>
              <a:rPr b="1" lang="en-US" sz="1835">
                <a:latin typeface="Arial"/>
                <a:ea typeface="Arial"/>
                <a:cs typeface="Arial"/>
                <a:sym typeface="Arial"/>
              </a:rPr>
              <a:t>Root Cause – May 2016 Anomaly</a:t>
            </a:r>
            <a:endParaRPr b="1" sz="1835">
              <a:latin typeface="Arial"/>
              <a:ea typeface="Arial"/>
              <a:cs typeface="Arial"/>
              <a:sym typeface="Arial"/>
            </a:endParaRPr>
          </a:p>
          <a:p>
            <a:pPr indent="-345122" lvl="0" marL="457200" rtl="0" algn="l">
              <a:lnSpc>
                <a:spcPct val="95000"/>
              </a:lnSpc>
              <a:spcBef>
                <a:spcPts val="1200"/>
              </a:spcBef>
              <a:spcAft>
                <a:spcPts val="0"/>
              </a:spcAft>
              <a:buSzPts val="1835"/>
              <a:buChar char="●"/>
            </a:pPr>
            <a:r>
              <a:rPr lang="en-US" sz="1835">
                <a:latin typeface="Arial"/>
                <a:ea typeface="Arial"/>
                <a:cs typeface="Arial"/>
                <a:sym typeface="Arial"/>
              </a:rPr>
              <a:t>Escalation depth and reopen cycles remained stable</a:t>
            </a:r>
            <a:br>
              <a:rPr lang="en-US" sz="1835">
                <a:latin typeface="Arial"/>
                <a:ea typeface="Arial"/>
                <a:cs typeface="Arial"/>
                <a:sym typeface="Arial"/>
              </a:rPr>
            </a:br>
            <a:r>
              <a:rPr lang="en-US" sz="1835">
                <a:latin typeface="Arial"/>
                <a:ea typeface="Arial"/>
                <a:cs typeface="Arial"/>
                <a:sym typeface="Arial"/>
              </a:rPr>
              <a:t>Elevated </a:t>
            </a:r>
            <a:r>
              <a:rPr b="1" lang="en-US" sz="1835">
                <a:latin typeface="Arial"/>
                <a:ea typeface="Arial"/>
                <a:cs typeface="Arial"/>
                <a:sym typeface="Arial"/>
              </a:rPr>
              <a:t>sys_mod_count</a:t>
            </a:r>
            <a:r>
              <a:rPr lang="en-US" sz="1835">
                <a:latin typeface="Arial"/>
                <a:ea typeface="Arial"/>
                <a:cs typeface="Arial"/>
                <a:sym typeface="Arial"/>
              </a:rPr>
              <a:t> indicated increased internal coordination complexity</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Evidence suggests temporary systemic workload strain, not escalation mismanagement</a:t>
            </a:r>
            <a:endParaRPr sz="18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US" sz="1835">
                <a:latin typeface="Arial"/>
                <a:ea typeface="Arial"/>
                <a:cs typeface="Arial"/>
                <a:sym typeface="Arial"/>
              </a:rPr>
              <a:t>Structural Insights from Forensic Analysis</a:t>
            </a:r>
            <a:endParaRPr b="1" sz="1835">
              <a:latin typeface="Arial"/>
              <a:ea typeface="Arial"/>
              <a:cs typeface="Arial"/>
              <a:sym typeface="Arial"/>
            </a:endParaRPr>
          </a:p>
          <a:p>
            <a:pPr indent="-345122" lvl="0" marL="457200" rtl="0" algn="l">
              <a:lnSpc>
                <a:spcPct val="95000"/>
              </a:lnSpc>
              <a:spcBef>
                <a:spcPts val="1200"/>
              </a:spcBef>
              <a:spcAft>
                <a:spcPts val="0"/>
              </a:spcAft>
              <a:buSzPts val="1835"/>
              <a:buChar char="●"/>
            </a:pPr>
            <a:r>
              <a:rPr lang="en-US" sz="1835">
                <a:latin typeface="Arial"/>
                <a:ea typeface="Arial"/>
                <a:cs typeface="Arial"/>
                <a:sym typeface="Arial"/>
              </a:rPr>
              <a:t>Escalation depth strongly increases resolution time and SLA breaches</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Priority classification does not guarantee faster resolution</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SLA violations are distributed across categories, indicating systemic inefficiencies</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PCA revealed latent structural clusters driven by operational complexity</a:t>
            </a:r>
            <a:endParaRPr sz="18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US" sz="1835">
                <a:latin typeface="Arial"/>
                <a:ea typeface="Arial"/>
                <a:cs typeface="Arial"/>
                <a:sym typeface="Arial"/>
              </a:rPr>
              <a:t>Operational Implications</a:t>
            </a:r>
            <a:endParaRPr b="1" sz="1835">
              <a:latin typeface="Arial"/>
              <a:ea typeface="Arial"/>
              <a:cs typeface="Arial"/>
              <a:sym typeface="Arial"/>
            </a:endParaRPr>
          </a:p>
          <a:p>
            <a:pPr indent="-345122" lvl="0" marL="457200" rtl="0" algn="l">
              <a:lnSpc>
                <a:spcPct val="95000"/>
              </a:lnSpc>
              <a:spcBef>
                <a:spcPts val="1200"/>
              </a:spcBef>
              <a:spcAft>
                <a:spcPts val="0"/>
              </a:spcAft>
              <a:buSzPts val="1835"/>
              <a:buChar char="●"/>
            </a:pPr>
            <a:r>
              <a:rPr lang="en-US" sz="1835">
                <a:latin typeface="Arial"/>
                <a:ea typeface="Arial"/>
                <a:cs typeface="Arial"/>
                <a:sym typeface="Arial"/>
              </a:rPr>
              <a:t>Reduce unnecessary reassignment cycles</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Introduce category-specific workflow optimization</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Improve monitoring of complexity indicators (e.g., sys_mod_count)</a:t>
            </a:r>
            <a:endParaRPr sz="1835">
              <a:latin typeface="Arial"/>
              <a:ea typeface="Arial"/>
              <a:cs typeface="Arial"/>
              <a:sym typeface="Arial"/>
            </a:endParaRPr>
          </a:p>
          <a:p>
            <a:pPr indent="-345122" lvl="0" marL="457200" rtl="0" algn="l">
              <a:lnSpc>
                <a:spcPct val="95000"/>
              </a:lnSpc>
              <a:spcBef>
                <a:spcPts val="0"/>
              </a:spcBef>
              <a:spcAft>
                <a:spcPts val="0"/>
              </a:spcAft>
              <a:buSzPts val="1835"/>
              <a:buChar char="●"/>
            </a:pPr>
            <a:r>
              <a:rPr lang="en-US" sz="1835">
                <a:latin typeface="Arial"/>
                <a:ea typeface="Arial"/>
                <a:cs typeface="Arial"/>
                <a:sym typeface="Arial"/>
              </a:rPr>
              <a:t>Use progressive visual analytics for early anomaly detection</a:t>
            </a:r>
            <a:endParaRPr sz="328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46"/>
          <p:cNvPicPr preferRelativeResize="0"/>
          <p:nvPr/>
        </p:nvPicPr>
        <p:blipFill>
          <a:blip r:embed="rId3">
            <a:alphaModFix/>
          </a:blip>
          <a:stretch>
            <a:fillRect/>
          </a:stretch>
        </p:blipFill>
        <p:spPr>
          <a:xfrm>
            <a:off x="152400" y="152400"/>
            <a:ext cx="11887201" cy="6516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